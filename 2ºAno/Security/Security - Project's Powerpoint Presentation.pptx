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66" r:id="rId5"/>
    <p:sldId id="259" r:id="rId6"/>
    <p:sldId id="267" r:id="rId7"/>
    <p:sldId id="264" r:id="rId8"/>
    <p:sldId id="263" r:id="rId9"/>
    <p:sldId id="260" r:id="rId10"/>
    <p:sldId id="261" r:id="rId11"/>
    <p:sldId id="262" r:id="rId12"/>
    <p:sldId id="265" r:id="rId13"/>
    <p:sldId id="271" r:id="rId14"/>
    <p:sldId id="269" r:id="rId15"/>
    <p:sldId id="270" r:id="rId16"/>
    <p:sldId id="268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D7C37-A142-4946-B639-1A368489BF05}" type="datetimeFigureOut">
              <a:rPr lang="pt-PT" smtClean="0"/>
              <a:t>05/06/2025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FF89C-51B8-4560-A566-77E263D5AF4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1360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FF89C-51B8-4560-A566-77E263D5AF49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9795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FF89C-51B8-4560-A566-77E263D5AF49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69301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0DDD-E38E-4791-9141-D8357E819A0C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76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71C80-C71A-4C52-BB75-5DA018CA64F7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0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DC10-BEEB-4C37-B4DC-36BE1FA4741D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0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31366-28B7-4A9E-9409-827D39274B1D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A137-3964-4021-AC5B-173950D35558}" type="datetime1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9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9C4E-7A21-4BBC-9B9C-D9618EF0B20B}" type="datetime1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1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E795A-377A-400B-ABF1-95FB30A12B7D}" type="datetime1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23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D202-941F-4C30-A430-1E6ACC69955B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867E-FBC6-4F02-BF76-A51C56867B96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0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141-133E-4189-AB8F-DF966398299D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5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D0B84-7CD0-4B0A-9F23-AE14A8140F73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89B4F53-8C8F-4676-873F-781FAD81356F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0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7476F910-5C44-2315-5CED-969838434A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799" b="15175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54C9C6-C03F-B4A1-8E33-4A6F89D4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815" y="744832"/>
            <a:ext cx="3020859" cy="1145172"/>
          </a:xfrm>
        </p:spPr>
        <p:txBody>
          <a:bodyPr anchor="t">
            <a:normAutofit/>
          </a:bodyPr>
          <a:lstStyle/>
          <a:p>
            <a:r>
              <a:rPr lang="pt-PT" sz="4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pfSense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9FBAC1-484D-B787-58F3-70984245BFEC}"/>
              </a:ext>
            </a:extLst>
          </p:cNvPr>
          <p:cNvSpPr/>
          <p:nvPr/>
        </p:nvSpPr>
        <p:spPr>
          <a:xfrm>
            <a:off x="-1" y="5088265"/>
            <a:ext cx="12192001" cy="1813465"/>
          </a:xfrm>
          <a:prstGeom prst="rect">
            <a:avLst/>
          </a:prstGeom>
          <a:gradFill>
            <a:gsLst>
              <a:gs pos="9000">
                <a:srgbClr val="040404">
                  <a:alpha val="82000"/>
                </a:srgb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28778-4685-0BA3-4730-BDB86DB53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8" y="5111993"/>
            <a:ext cx="5040785" cy="991156"/>
          </a:xfrm>
        </p:spPr>
        <p:txBody>
          <a:bodyPr anchor="b">
            <a:normAutofit fontScale="70000" lnSpcReduction="20000"/>
          </a:bodyPr>
          <a:lstStyle/>
          <a:p>
            <a:r>
              <a:rPr lang="pt-PT" sz="2000" i="0" dirty="0"/>
              <a:t>Martim Oliveira Jardim Freitas - 2021145193 </a:t>
            </a:r>
          </a:p>
          <a:p>
            <a:r>
              <a:rPr lang="pt-PT" sz="2000" i="0" dirty="0"/>
              <a:t>Rodrigo Gonçalves Glória - 2022150127 </a:t>
            </a:r>
          </a:p>
          <a:p>
            <a:r>
              <a:rPr lang="pt-PT" sz="2000" i="0" dirty="0"/>
              <a:t>Rafael José Oliveira Antunes - 2022144739</a:t>
            </a:r>
            <a:endParaRPr lang="pt-PT" sz="2400" i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843E0C-B6D1-ED40-B5A0-C946FA13BE13}"/>
              </a:ext>
            </a:extLst>
          </p:cNvPr>
          <p:cNvSpPr txBox="1">
            <a:spLocks/>
          </p:cNvSpPr>
          <p:nvPr/>
        </p:nvSpPr>
        <p:spPr>
          <a:xfrm>
            <a:off x="517869" y="1832443"/>
            <a:ext cx="6751610" cy="6151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Aplicações de regras básicas de resistência ao “Flooding”</a:t>
            </a:r>
            <a:endParaRPr lang="pt-PT" sz="1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14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F03D11CA-4B11-F179-B1B2-0BCE067BF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9" y="6255644"/>
            <a:ext cx="1563624" cy="47671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08420F87-5130-1A08-9959-116121DD7FEF}"/>
              </a:ext>
            </a:extLst>
          </p:cNvPr>
          <p:cNvSpPr txBox="1">
            <a:spLocks/>
          </p:cNvSpPr>
          <p:nvPr/>
        </p:nvSpPr>
        <p:spPr>
          <a:xfrm>
            <a:off x="517868" y="1463041"/>
            <a:ext cx="6751611" cy="6151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Router e Firewall</a:t>
            </a:r>
          </a:p>
        </p:txBody>
      </p:sp>
    </p:spTree>
    <p:extLst>
      <p:ext uri="{BB962C8B-B14F-4D97-AF65-F5344CB8AC3E}">
        <p14:creationId xmlns:p14="http://schemas.microsoft.com/office/powerpoint/2010/main" val="40723821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C62D-A2DE-95D2-321F-24D26DBF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                 , o que é?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C2204-407C-155C-A4B9-65192AF1F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546604"/>
            <a:ext cx="11155680" cy="3767328"/>
          </a:xfrm>
        </p:spPr>
        <p:txBody>
          <a:bodyPr/>
          <a:lstStyle/>
          <a:p>
            <a:r>
              <a:rPr lang="pt-PT" dirty="0"/>
              <a:t>pfSense é uma ferramenta open-source baseada em FreeBSD;</a:t>
            </a:r>
          </a:p>
          <a:p>
            <a:r>
              <a:rPr lang="pt-PT" dirty="0"/>
              <a:t>Utilizada como router e firewall em ambientes profissionais e laboratoriais;</a:t>
            </a:r>
          </a:p>
          <a:p>
            <a:r>
              <a:rPr lang="pt-PT" dirty="0"/>
              <a:t>Funcionalidades Principais:</a:t>
            </a:r>
          </a:p>
          <a:p>
            <a:pPr lvl="1"/>
            <a:r>
              <a:rPr lang="pt-PT" dirty="0"/>
              <a:t>Gestão de tráfego (NAT, DHCP, DNS, aplicação de regras, etc.);</a:t>
            </a:r>
          </a:p>
          <a:p>
            <a:pPr lvl="1"/>
            <a:r>
              <a:rPr lang="pt-PT" dirty="0"/>
              <a:t>Monitorização de pacotes;</a:t>
            </a:r>
          </a:p>
          <a:p>
            <a:pPr lvl="1"/>
            <a:r>
              <a:rPr lang="pt-PT" dirty="0"/>
              <a:t>Aplicação de políticas de segurança.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6046EB-3803-FEC7-EB05-960932E3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How to Install and Configure pfSense on X86-64bit Win10 Mini PC? - Latest  News from Seeed Studio">
            <a:extLst>
              <a:ext uri="{FF2B5EF4-FFF2-40B4-BE49-F238E27FC236}">
                <a16:creationId xmlns:a16="http://schemas.microsoft.com/office/drawing/2014/main" id="{BE98CB93-AB3B-0CF0-C679-C2D51C553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12" y="978408"/>
            <a:ext cx="2453640" cy="72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12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B8C4B-1DB2-93FA-353A-AC57B3BA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Objetivos do Projeto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2AA3772-F3AF-0DBF-B473-E07B07915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32984"/>
            <a:ext cx="11156950" cy="3767138"/>
          </a:xfrm>
        </p:spPr>
        <p:txBody>
          <a:bodyPr/>
          <a:lstStyle/>
          <a:p>
            <a:r>
              <a:rPr lang="pt-PT" dirty="0"/>
              <a:t>Simular um ambiente de rede vulnerável a ataques de flooding;</a:t>
            </a:r>
          </a:p>
          <a:p>
            <a:r>
              <a:rPr lang="pt-PT" dirty="0"/>
              <a:t>Configurar o pfSense para aplicar regras de mitigação:</a:t>
            </a:r>
          </a:p>
          <a:p>
            <a:pPr lvl="1"/>
            <a:r>
              <a:rPr lang="pt-PT" dirty="0"/>
              <a:t>TCP flood (SYN);</a:t>
            </a:r>
          </a:p>
          <a:p>
            <a:pPr lvl="1"/>
            <a:r>
              <a:rPr lang="pt-PT" dirty="0"/>
              <a:t>UDP flood;</a:t>
            </a:r>
          </a:p>
          <a:p>
            <a:pPr lvl="1"/>
            <a:r>
              <a:rPr lang="pt-PT" dirty="0"/>
              <a:t>ICMP (ping).</a:t>
            </a:r>
          </a:p>
          <a:p>
            <a:r>
              <a:rPr lang="pt-PT" dirty="0"/>
              <a:t>Observar efeitos com o Wireshark e validar a proteção.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598B394-9670-3968-0176-6F8EE683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0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347E-841E-0A61-B1AB-13BFC9A3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Ferramentas utilizadas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3E70-D079-161A-EC38-85E2D0B93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GNS3;</a:t>
            </a:r>
          </a:p>
          <a:p>
            <a:r>
              <a:rPr lang="pt-PT" dirty="0"/>
              <a:t>Wireshark;</a:t>
            </a:r>
          </a:p>
          <a:p>
            <a:r>
              <a:rPr lang="pt-PT" dirty="0"/>
              <a:t>pfSense como appliance do GNS3;</a:t>
            </a:r>
          </a:p>
          <a:p>
            <a:r>
              <a:rPr lang="pt-PT" dirty="0"/>
              <a:t>Máquinas virtuais no Virtual Box:</a:t>
            </a:r>
          </a:p>
          <a:p>
            <a:pPr lvl="1"/>
            <a:r>
              <a:rPr lang="pt-PT" dirty="0"/>
              <a:t>Kali Linux (máquina atacante);</a:t>
            </a:r>
          </a:p>
          <a:p>
            <a:pPr lvl="1"/>
            <a:r>
              <a:rPr lang="pt-PT" dirty="0"/>
              <a:t>Uma máquina Ubuntu e outra Windows (máquinas alvo).</a:t>
            </a:r>
          </a:p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A59FC-B53E-BC0A-6E97-63C4F064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4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E73DDC-0E0C-7E7A-B22D-2E8464737EC2}"/>
              </a:ext>
            </a:extLst>
          </p:cNvPr>
          <p:cNvSpPr txBox="1"/>
          <p:nvPr/>
        </p:nvSpPr>
        <p:spPr>
          <a:xfrm>
            <a:off x="9181579" y="4797890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1</a:t>
            </a:r>
          </a:p>
        </p:txBody>
      </p:sp>
      <p:pic>
        <p:nvPicPr>
          <p:cNvPr id="17" name="Picture 16" descr="A group of logos of different brands&#10;&#10;AI-generated content may be incorrect.">
            <a:extLst>
              <a:ext uri="{FF2B5EF4-FFF2-40B4-BE49-F238E27FC236}">
                <a16:creationId xmlns:a16="http://schemas.microsoft.com/office/drawing/2014/main" id="{741E9414-1BB2-7574-4E4E-A0AAE815B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233" y="2441448"/>
            <a:ext cx="3732206" cy="22904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6398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FA41-6C77-DAC8-9EDE-2E6D605E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Topologia</a:t>
            </a:r>
          </a:p>
        </p:txBody>
      </p:sp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5AA9FD20-03F6-2F24-2AD8-91B1BEE54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495" y="1865639"/>
            <a:ext cx="5833872" cy="346547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E17B9F-0912-C906-3BE4-56BE154318B0}"/>
              </a:ext>
            </a:extLst>
          </p:cNvPr>
          <p:cNvSpPr txBox="1">
            <a:spLocks/>
          </p:cNvSpPr>
          <p:nvPr/>
        </p:nvSpPr>
        <p:spPr>
          <a:xfrm>
            <a:off x="515112" y="2441448"/>
            <a:ext cx="4070350" cy="3767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Rede A - Rede de confiança com 2 terminais para configurar a firewall.</a:t>
            </a:r>
          </a:p>
          <a:p>
            <a:r>
              <a:rPr lang="pt-PT" dirty="0"/>
              <a:t>Rede B - Contém um terminal Kali Linux para efetuar os ataques.</a:t>
            </a:r>
          </a:p>
          <a:p>
            <a:r>
              <a:rPr lang="pt-PT" dirty="0"/>
              <a:t>Interface WAN - Acesso à internet através da NAT (IP por DHCP).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0CE95-445D-3329-6A6F-37B08F05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466D9-F542-93B0-A36B-F3B3C41F2A94}"/>
              </a:ext>
            </a:extLst>
          </p:cNvPr>
          <p:cNvSpPr txBox="1"/>
          <p:nvPr/>
        </p:nvSpPr>
        <p:spPr>
          <a:xfrm>
            <a:off x="8139165" y="5331117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2</a:t>
            </a:r>
          </a:p>
        </p:txBody>
      </p:sp>
    </p:spTree>
    <p:extLst>
      <p:ext uri="{BB962C8B-B14F-4D97-AF65-F5344CB8AC3E}">
        <p14:creationId xmlns:p14="http://schemas.microsoft.com/office/powerpoint/2010/main" val="395280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1997C-F664-CF8A-7706-068BC9B12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0118"/>
          </a:xfrm>
        </p:spPr>
        <p:txBody>
          <a:bodyPr/>
          <a:lstStyle/>
          <a:p>
            <a:r>
              <a:rPr lang="pt-PT" dirty="0"/>
              <a:t>Atribuição das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A85F5-4443-CDFD-F28F-C5464E12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6</a:t>
            </a:fld>
            <a:endParaRPr lang="en-US"/>
          </a:p>
        </p:txBody>
      </p:sp>
      <p:pic>
        <p:nvPicPr>
          <p:cNvPr id="16" name="Content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C13C03-0376-C237-0383-B4C3A4A7D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11681"/>
            <a:ext cx="5495544" cy="3075151"/>
          </a:xfr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D4959D-E217-F38B-3A11-FF61C8A3B3A7}"/>
              </a:ext>
            </a:extLst>
          </p:cNvPr>
          <p:cNvSpPr txBox="1">
            <a:spLocks/>
          </p:cNvSpPr>
          <p:nvPr/>
        </p:nvSpPr>
        <p:spPr>
          <a:xfrm>
            <a:off x="780288" y="2011681"/>
            <a:ext cx="4486656" cy="1618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PT" dirty="0"/>
              <a:t>De modo a cumprir os objetivos deste projeto, é necessário atribuir as interfaces físicas (em0, em1, em2, etc..) às interfaces lógicas (WAN, LAN1, LAN2);</a:t>
            </a:r>
          </a:p>
          <a:p>
            <a:pPr algn="just"/>
            <a:endParaRPr lang="pt-PT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1E403-4011-8AE3-8109-BE6BA2994BBE}"/>
              </a:ext>
            </a:extLst>
          </p:cNvPr>
          <p:cNvSpPr txBox="1"/>
          <p:nvPr/>
        </p:nvSpPr>
        <p:spPr>
          <a:xfrm>
            <a:off x="8573505" y="5086832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E19D7-8F5F-1CDD-C946-0EE91BC28F4E}"/>
              </a:ext>
            </a:extLst>
          </p:cNvPr>
          <p:cNvSpPr txBox="1">
            <a:spLocks/>
          </p:cNvSpPr>
          <p:nvPr/>
        </p:nvSpPr>
        <p:spPr>
          <a:xfrm>
            <a:off x="780288" y="3549256"/>
            <a:ext cx="4486656" cy="1618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PT" dirty="0"/>
              <a:t>As interfaces em0 e em1 são interfaces </a:t>
            </a:r>
            <a:r>
              <a:rPr lang="pt-PT" dirty="0" err="1"/>
              <a:t>default</a:t>
            </a:r>
            <a:r>
              <a:rPr lang="pt-PT" dirty="0"/>
              <a:t> que pertencem respetivamente à </a:t>
            </a:r>
            <a:r>
              <a:rPr lang="pt-PT" dirty="0" err="1"/>
              <a:t>Wan</a:t>
            </a:r>
            <a:r>
              <a:rPr lang="pt-PT" dirty="0"/>
              <a:t> e Lan1, sendo as restantes, criadas conforme necessário.</a:t>
            </a:r>
          </a:p>
        </p:txBody>
      </p:sp>
    </p:spTree>
    <p:extLst>
      <p:ext uri="{BB962C8B-B14F-4D97-AF65-F5344CB8AC3E}">
        <p14:creationId xmlns:p14="http://schemas.microsoft.com/office/powerpoint/2010/main" val="1904433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4732E-3300-6D71-91C9-0F67337E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Acesso à GUI (Graphical User Interface)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0DFA8-CCED-8590-A4D9-EB4F6666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E4CD31F-93A8-4DCB-0ADD-AA83C7CE4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13300" y="2285999"/>
            <a:ext cx="6464172" cy="3353245"/>
          </a:xfr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467E0FA-D435-5375-F688-B6DE60928A0D}"/>
              </a:ext>
            </a:extLst>
          </p:cNvPr>
          <p:cNvSpPr txBox="1">
            <a:spLocks/>
          </p:cNvSpPr>
          <p:nvPr/>
        </p:nvSpPr>
        <p:spPr>
          <a:xfrm>
            <a:off x="515112" y="2285998"/>
            <a:ext cx="4070350" cy="38404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PT" dirty="0"/>
              <a:t>Para aceder à GUI do pfSense, basta inserir no browser de qualquer terminal deste projeto, qualquer um dos IP’s atribuídos às interfaces do router/firewall.</a:t>
            </a:r>
          </a:p>
          <a:p>
            <a:pPr algn="just"/>
            <a:r>
              <a:rPr lang="pt-PT" dirty="0"/>
              <a:t>Neste caso, os IP’s válidos seriam o 192.168.1.254, 192.168.2.254 e o 192.168.75.134.</a:t>
            </a:r>
          </a:p>
          <a:p>
            <a:pPr algn="just"/>
            <a:r>
              <a:rPr lang="pt-PT" dirty="0"/>
              <a:t>As credenciais de acesso </a:t>
            </a:r>
            <a:r>
              <a:rPr lang="pt-PT" i="1" dirty="0"/>
              <a:t>default</a:t>
            </a:r>
            <a:r>
              <a:rPr lang="pt-PT" dirty="0"/>
              <a:t> são:</a:t>
            </a:r>
          </a:p>
          <a:p>
            <a:pPr lvl="1" algn="just"/>
            <a:r>
              <a:rPr lang="pt-PT" dirty="0"/>
              <a:t>User: admin</a:t>
            </a:r>
          </a:p>
          <a:p>
            <a:pPr lvl="1" algn="just"/>
            <a:r>
              <a:rPr lang="pt-PT" dirty="0"/>
              <a:t>Pass: pfsense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125A7C-895E-4BBE-4235-B3E004326155}"/>
              </a:ext>
            </a:extLst>
          </p:cNvPr>
          <p:cNvSpPr txBox="1"/>
          <p:nvPr/>
        </p:nvSpPr>
        <p:spPr>
          <a:xfrm>
            <a:off x="8284263" y="5639244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4</a:t>
            </a:r>
          </a:p>
        </p:txBody>
      </p:sp>
    </p:spTree>
    <p:extLst>
      <p:ext uri="{BB962C8B-B14F-4D97-AF65-F5344CB8AC3E}">
        <p14:creationId xmlns:p14="http://schemas.microsoft.com/office/powerpoint/2010/main" val="3451110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8BF8-094A-F595-1A8A-DE9B5A11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Rules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7B04-6C20-40C2-5ACA-61B28C82F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19656"/>
            <a:ext cx="7906512" cy="4526280"/>
          </a:xfrm>
        </p:spPr>
        <p:txBody>
          <a:bodyPr>
            <a:normAutofit lnSpcReduction="10000"/>
          </a:bodyPr>
          <a:lstStyle/>
          <a:p>
            <a:pPr algn="just"/>
            <a:r>
              <a:rPr lang="pt-PT" dirty="0"/>
              <a:t>O que são?</a:t>
            </a:r>
          </a:p>
          <a:p>
            <a:pPr lvl="1" algn="just"/>
            <a:r>
              <a:rPr lang="pt-PT" dirty="0"/>
              <a:t>São filtros de tráfego que definem o que é </a:t>
            </a:r>
            <a:r>
              <a:rPr lang="pt-PT" u="sng" dirty="0"/>
              <a:t>permitido</a:t>
            </a:r>
            <a:r>
              <a:rPr lang="pt-PT" dirty="0"/>
              <a:t> ou </a:t>
            </a:r>
            <a:r>
              <a:rPr lang="pt-PT" u="sng" dirty="0"/>
              <a:t>bloqueado</a:t>
            </a:r>
            <a:r>
              <a:rPr lang="pt-PT" dirty="0"/>
              <a:t> numa interface de rede (LAN, WAN, etc.).</a:t>
            </a:r>
          </a:p>
          <a:p>
            <a:pPr algn="just"/>
            <a:r>
              <a:rPr lang="pt-PT" dirty="0"/>
              <a:t>Como funcionam?</a:t>
            </a:r>
          </a:p>
          <a:p>
            <a:pPr lvl="1" algn="just"/>
            <a:r>
              <a:rPr lang="pt-PT" dirty="0"/>
              <a:t>Funcionam de forma sequencial, de cima para baixo (de preferência, da mais específica para menos específica);</a:t>
            </a:r>
          </a:p>
          <a:p>
            <a:pPr lvl="1" algn="just"/>
            <a:r>
              <a:rPr lang="pt-PT" dirty="0"/>
              <a:t>Ações disponíveis:</a:t>
            </a:r>
          </a:p>
          <a:p>
            <a:pPr lvl="2" algn="just"/>
            <a:r>
              <a:rPr lang="pt-PT" dirty="0"/>
              <a:t>Pass – permite passagem do tráfego;</a:t>
            </a:r>
          </a:p>
          <a:p>
            <a:pPr lvl="2" algn="just"/>
            <a:r>
              <a:rPr lang="pt-PT" dirty="0"/>
              <a:t>Block – bloqueia o tráfego (sem fornecer feedback);</a:t>
            </a:r>
          </a:p>
          <a:p>
            <a:pPr lvl="2" algn="just"/>
            <a:r>
              <a:rPr lang="pt-PT" dirty="0"/>
              <a:t>Reject – bloqueia e envia feedback ao emissor.</a:t>
            </a:r>
          </a:p>
          <a:p>
            <a:pPr algn="just"/>
            <a:r>
              <a:rPr lang="pt-PT" dirty="0"/>
              <a:t>Onde se aplicam?</a:t>
            </a:r>
          </a:p>
          <a:p>
            <a:pPr lvl="1" algn="just"/>
            <a:r>
              <a:rPr lang="pt-PT" dirty="0"/>
              <a:t>Na interface onde o tráfego entra no pfSense;</a:t>
            </a:r>
          </a:p>
          <a:p>
            <a:pPr lvl="1" algn="just"/>
            <a:r>
              <a:rPr lang="pt-PT" dirty="0"/>
              <a:t>No caso deste projeto, como é o Kali Linux (Rede B) a injetar tráfego, é na LAN2 que as rules serão aplicadas.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965C4-FDDB-A803-0160-55B2E8FB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A06E4C-EC71-B100-3F8D-940DE3351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157" y="2354705"/>
            <a:ext cx="2873680" cy="2805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74448E-5BE8-DCC9-A862-DE10B69866E6}"/>
              </a:ext>
            </a:extLst>
          </p:cNvPr>
          <p:cNvSpPr txBox="1"/>
          <p:nvPr/>
        </p:nvSpPr>
        <p:spPr>
          <a:xfrm>
            <a:off x="9856892" y="5160555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5</a:t>
            </a:r>
          </a:p>
        </p:txBody>
      </p:sp>
    </p:spTree>
    <p:extLst>
      <p:ext uri="{BB962C8B-B14F-4D97-AF65-F5344CB8AC3E}">
        <p14:creationId xmlns:p14="http://schemas.microsoft.com/office/powerpoint/2010/main" val="873770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5C75-16E7-97EE-486D-F47995A7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Rules - Interface WAN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9A2855-67BB-AB62-7132-CE785E343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05" y="3723767"/>
            <a:ext cx="8178789" cy="25170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1A80B-884C-0BE0-0205-E26C212B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49DFB-C13E-A39B-49AE-68AB6802D307}"/>
              </a:ext>
            </a:extLst>
          </p:cNvPr>
          <p:cNvSpPr txBox="1"/>
          <p:nvPr/>
        </p:nvSpPr>
        <p:spPr>
          <a:xfrm>
            <a:off x="515112" y="1964681"/>
            <a:ext cx="104192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Interface WAN Default Rules: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PT" dirty="0"/>
              <a:t> RFC 1918 networks (endereços privados) - Bloqueia qualquer tentativa de ligação à interface WAN a partir de endereços privados.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PT" dirty="0"/>
              <a:t>Reserved – Not Assigned by IANA - Bloqueia tráfego proveniente de endereços reservados ou ainda não atribuídos oficialmente pela IANA.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32284-0FA9-CB89-354D-62FC72438F92}"/>
              </a:ext>
            </a:extLst>
          </p:cNvPr>
          <p:cNvSpPr txBox="1"/>
          <p:nvPr/>
        </p:nvSpPr>
        <p:spPr>
          <a:xfrm>
            <a:off x="5724750" y="6240790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6</a:t>
            </a:r>
          </a:p>
        </p:txBody>
      </p:sp>
    </p:spTree>
    <p:extLst>
      <p:ext uri="{BB962C8B-B14F-4D97-AF65-F5344CB8AC3E}">
        <p14:creationId xmlns:p14="http://schemas.microsoft.com/office/powerpoint/2010/main" val="2353550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E2B2-7E31-166B-0FD6-119513FED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5EDA-CB2E-4FD4-FD2A-157522C5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Rules - Interface WAN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1660C-C2E7-7E28-2C99-61CBF863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DED10-D396-AF9D-1683-8E3F70765E28}"/>
              </a:ext>
            </a:extLst>
          </p:cNvPr>
          <p:cNvSpPr txBox="1"/>
          <p:nvPr/>
        </p:nvSpPr>
        <p:spPr>
          <a:xfrm>
            <a:off x="633099" y="1979783"/>
            <a:ext cx="10419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Ao aplicar na consola do pfSense o comando ‘pfSsh.php playback enableallowallwan’ passamos a ter acesso à WEB. </a:t>
            </a:r>
          </a:p>
          <a:p>
            <a:endParaRPr lang="pt-PT" dirty="0"/>
          </a:p>
          <a:p>
            <a:endParaRPr lang="pt-PT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B876A56-5C6B-0224-AF38-D90CE241F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4520" y="3402236"/>
            <a:ext cx="8233916" cy="247735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693DB3-53DD-6ABC-FA1A-9FDD9584D628}"/>
              </a:ext>
            </a:extLst>
          </p:cNvPr>
          <p:cNvSpPr txBox="1"/>
          <p:nvPr/>
        </p:nvSpPr>
        <p:spPr>
          <a:xfrm>
            <a:off x="5721211" y="5879592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7</a:t>
            </a:r>
          </a:p>
        </p:txBody>
      </p:sp>
    </p:spTree>
    <p:extLst>
      <p:ext uri="{BB962C8B-B14F-4D97-AF65-F5344CB8AC3E}">
        <p14:creationId xmlns:p14="http://schemas.microsoft.com/office/powerpoint/2010/main" val="1134345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E755-57EE-8DF7-F69F-71EEE759B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95528"/>
          </a:xfrm>
        </p:spPr>
        <p:txBody>
          <a:bodyPr/>
          <a:lstStyle/>
          <a:p>
            <a:r>
              <a:rPr lang="pt-PT" dirty="0"/>
              <a:t>Rules - Interface LAN1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3CA29A-D500-C365-68DF-527496D7E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055" y="3937026"/>
            <a:ext cx="7184924" cy="23083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E1BA1-DB80-142E-D299-C8BB7218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21311-0463-F70E-8DE8-4BF4D1317D31}"/>
              </a:ext>
            </a:extLst>
          </p:cNvPr>
          <p:cNvSpPr txBox="1"/>
          <p:nvPr/>
        </p:nvSpPr>
        <p:spPr>
          <a:xfrm>
            <a:off x="698391" y="1733322"/>
            <a:ext cx="10254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Anti-Lockout Rule: Regra pré-definida pelo pfSense que permite o acesso interface web (GUI) e por SSH ao pfSense a partir da LAN, independentemente das outras regras.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PT" dirty="0"/>
              <a:t>Evita o bloqueio da firewall (lockout) para o caso da eventual criação de uma regra que faça perder o acesso à GUI.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PT" dirty="0"/>
              <a:t>Crucial para a configuração inicial. </a:t>
            </a:r>
          </a:p>
          <a:p>
            <a:pPr lvl="1" algn="just"/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As outras duas regras são pré-definidas, e permanecem inalteradas.</a:t>
            </a:r>
          </a:p>
          <a:p>
            <a:endParaRPr lang="pt-P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60805-936B-0B5A-8A71-3A57492850C6}"/>
              </a:ext>
            </a:extLst>
          </p:cNvPr>
          <p:cNvSpPr txBox="1"/>
          <p:nvPr/>
        </p:nvSpPr>
        <p:spPr>
          <a:xfrm>
            <a:off x="5825733" y="6232168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8</a:t>
            </a:r>
          </a:p>
        </p:txBody>
      </p:sp>
    </p:spTree>
    <p:extLst>
      <p:ext uri="{BB962C8B-B14F-4D97-AF65-F5344CB8AC3E}">
        <p14:creationId xmlns:p14="http://schemas.microsoft.com/office/powerpoint/2010/main" val="1119408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58B3F-EFDA-5798-EC48-6E5FCD50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77240"/>
          </a:xfrm>
        </p:spPr>
        <p:txBody>
          <a:bodyPr/>
          <a:lstStyle/>
          <a:p>
            <a:r>
              <a:rPr lang="pt-PT" dirty="0"/>
              <a:t>Rules - Interface LAN2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910576-A3B7-3847-1FA5-610A6B95A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795" y="3203075"/>
            <a:ext cx="10900410" cy="312457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B6BB8-A261-4547-781B-F5DD6A2B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69631-57AC-8E84-0D4D-F8F0110C3F85}"/>
              </a:ext>
            </a:extLst>
          </p:cNvPr>
          <p:cNvSpPr txBox="1"/>
          <p:nvPr/>
        </p:nvSpPr>
        <p:spPr>
          <a:xfrm>
            <a:off x="5825733" y="6324651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62D35-3A56-0177-AB6F-B49D32835D5F}"/>
              </a:ext>
            </a:extLst>
          </p:cNvPr>
          <p:cNvSpPr txBox="1"/>
          <p:nvPr/>
        </p:nvSpPr>
        <p:spPr>
          <a:xfrm>
            <a:off x="518159" y="1780819"/>
            <a:ext cx="11155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Na Figura 9 é possível observar todas as regras que foram aplicadas principalmente para bloquear ou até limitar o flooding;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Vamos agora analisá-las com atenção.</a:t>
            </a:r>
          </a:p>
        </p:txBody>
      </p:sp>
    </p:spTree>
    <p:extLst>
      <p:ext uri="{BB962C8B-B14F-4D97-AF65-F5344CB8AC3E}">
        <p14:creationId xmlns:p14="http://schemas.microsoft.com/office/powerpoint/2010/main" val="133890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20ED-7132-4C65-E2B2-D869EE1C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3" y="3195484"/>
            <a:ext cx="11182227" cy="861059"/>
          </a:xfrm>
        </p:spPr>
        <p:txBody>
          <a:bodyPr>
            <a:normAutofit/>
          </a:bodyPr>
          <a:lstStyle/>
          <a:p>
            <a:pPr algn="ctr"/>
            <a:r>
              <a:rPr lang="pt-PT" dirty="0"/>
              <a:t>PARTE EXPERIMENTAL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7AAF9-8F43-29F7-7C70-426E4E4A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06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372C-6752-565F-7ED7-551E7D55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40560"/>
          </a:xfrm>
        </p:spPr>
        <p:txBody>
          <a:bodyPr/>
          <a:lstStyle/>
          <a:p>
            <a:r>
              <a:rPr lang="pt-PT" dirty="0"/>
              <a:t>Bloqueio de flood de tráfego ICMP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29512-0FBE-8B57-1C6C-79329E86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7AE13-9A81-59EE-6702-100BCA8713C9}"/>
              </a:ext>
            </a:extLst>
          </p:cNvPr>
          <p:cNvSpPr txBox="1"/>
          <p:nvPr/>
        </p:nvSpPr>
        <p:spPr>
          <a:xfrm>
            <a:off x="603602" y="1946788"/>
            <a:ext cx="56693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O intuito desta regra é: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 anular por completo a injeção de tráfego proveniente da rede B para a A através do comando: ‘</a:t>
            </a:r>
            <a:r>
              <a:rPr lang="pt-PT" dirty="0"/>
              <a:t>ping -f 192.168.1.2</a:t>
            </a:r>
            <a:r>
              <a:rPr lang="pt-PT" dirty="0">
                <a:sym typeface="Wingdings" panose="05000000000000000000" pitchFamily="2" charset="2"/>
              </a:rPr>
              <a:t>’.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PT" dirty="0">
              <a:sym typeface="Wingdings" panose="05000000000000000000" pitchFamily="2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Na Figura 10 é possível encontrar uma imagem que prova o dano causado pelo comando antes da regra estar aplicada.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B9EAED-0A4F-4D7B-D87A-844F2CF4B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858" y="1818968"/>
            <a:ext cx="4276934" cy="39417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5B275A-D8C3-FFAC-47EB-AD8AD09020BC}"/>
              </a:ext>
            </a:extLst>
          </p:cNvPr>
          <p:cNvSpPr txBox="1"/>
          <p:nvPr/>
        </p:nvSpPr>
        <p:spPr>
          <a:xfrm>
            <a:off x="9220380" y="5812904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10</a:t>
            </a:r>
          </a:p>
        </p:txBody>
      </p:sp>
    </p:spTree>
    <p:extLst>
      <p:ext uri="{BB962C8B-B14F-4D97-AF65-F5344CB8AC3E}">
        <p14:creationId xmlns:p14="http://schemas.microsoft.com/office/powerpoint/2010/main" val="759331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FA2E-E8FA-1D4D-3404-38FE07AE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A493-D605-4CCC-F798-5A93DFB8C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40560"/>
          </a:xfrm>
        </p:spPr>
        <p:txBody>
          <a:bodyPr/>
          <a:lstStyle/>
          <a:p>
            <a:r>
              <a:rPr lang="pt-PT" dirty="0"/>
              <a:t>Bloqueio de flood de tráfego ICMP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03D6F-6EE9-F062-B1E2-F5585DB6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6D28546-78DF-8151-F385-FDFCF8AE9C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645"/>
          <a:stretch/>
        </p:blipFill>
        <p:spPr>
          <a:xfrm>
            <a:off x="4382677" y="1924737"/>
            <a:ext cx="7288115" cy="3834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F468EC7-EA7E-52C8-597C-5110146F85F3}"/>
              </a:ext>
            </a:extLst>
          </p:cNvPr>
          <p:cNvSpPr txBox="1"/>
          <p:nvPr/>
        </p:nvSpPr>
        <p:spPr>
          <a:xfrm>
            <a:off x="521208" y="2091568"/>
            <a:ext cx="3755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Eis o que o Wireshark nos mostra após uma captura efetuada na interface da rede A entre o switch e o router;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>
              <a:sym typeface="Wingdings" panose="05000000000000000000" pitchFamily="2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No momento em que estamos a efetuar o flooding, o tráfego já não aparece no Wireshark.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B18443-E8C4-5475-9559-A0E7945B56EC}"/>
              </a:ext>
            </a:extLst>
          </p:cNvPr>
          <p:cNvSpPr txBox="1"/>
          <p:nvPr/>
        </p:nvSpPr>
        <p:spPr>
          <a:xfrm>
            <a:off x="7714789" y="5759318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11</a:t>
            </a:r>
          </a:p>
        </p:txBody>
      </p:sp>
    </p:spTree>
    <p:extLst>
      <p:ext uri="{BB962C8B-B14F-4D97-AF65-F5344CB8AC3E}">
        <p14:creationId xmlns:p14="http://schemas.microsoft.com/office/powerpoint/2010/main" val="1124550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697E-78C6-5852-2028-ACB5F71FE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E3BC4-6CF0-55C0-99DB-EC4849F49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77240"/>
          </a:xfrm>
        </p:spPr>
        <p:txBody>
          <a:bodyPr/>
          <a:lstStyle/>
          <a:p>
            <a:r>
              <a:rPr lang="pt-PT" dirty="0"/>
              <a:t>Bloquear acesso à GUI ao Kali Linux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5EC213-7B08-F284-2723-214AB518D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158" r="815" b="54930"/>
          <a:stretch/>
        </p:blipFill>
        <p:spPr>
          <a:xfrm>
            <a:off x="396337" y="5001465"/>
            <a:ext cx="11280551" cy="97519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E7F38-B97F-9F6A-C283-27037819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21AAD-0957-353A-0A8A-ED5C17E8E034}"/>
              </a:ext>
            </a:extLst>
          </p:cNvPr>
          <p:cNvSpPr txBox="1"/>
          <p:nvPr/>
        </p:nvSpPr>
        <p:spPr>
          <a:xfrm>
            <a:off x="5472105" y="3863922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EE70B-C8D3-A9DA-15D6-362B889D115E}"/>
              </a:ext>
            </a:extLst>
          </p:cNvPr>
          <p:cNvSpPr txBox="1"/>
          <p:nvPr/>
        </p:nvSpPr>
        <p:spPr>
          <a:xfrm>
            <a:off x="519678" y="1755648"/>
            <a:ext cx="1115263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700" dirty="0"/>
              <a:t>Esta Regra não envolve bloqueio de flooding, mas impede o acesso do Kali Linux à GUI do pfSense;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700" dirty="0"/>
              <a:t>Na secção Firewall </a:t>
            </a:r>
            <a:r>
              <a:rPr lang="pt-PT" sz="1700" dirty="0">
                <a:sym typeface="Wingdings" panose="05000000000000000000" pitchFamily="2" charset="2"/>
              </a:rPr>
              <a:t>AliasesPorts, criamos uma ‘alias’ chamada </a:t>
            </a:r>
            <a:r>
              <a:rPr lang="pt-PT" sz="1700" u="sng" dirty="0">
                <a:sym typeface="Wingdings" panose="05000000000000000000" pitchFamily="2" charset="2"/>
              </a:rPr>
              <a:t>WEBServices</a:t>
            </a:r>
            <a:r>
              <a:rPr lang="pt-PT" sz="1700" dirty="0">
                <a:sym typeface="Wingdings" panose="05000000000000000000" pitchFamily="2" charset="2"/>
              </a:rPr>
              <a:t> que é basicamente um atalho que agrupa determinados elementos (IP’s, ports, URL’s), sendo neste caso, ‘ports’ (Figura 12);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1700" dirty="0">
                <a:sym typeface="Wingdings" panose="05000000000000000000" pitchFamily="2" charset="2"/>
              </a:rPr>
              <a:t>A alias criada contém as portas 80,443 e 53 (HTTP, HTTPS, DNS) que são as portas usadas no acesso à WEB;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1BD76E-AB48-A7A9-CB1D-8D7548A6A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3" y="3071559"/>
            <a:ext cx="11152632" cy="807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897C65-BD16-D9BB-0318-DF76F8319E70}"/>
              </a:ext>
            </a:extLst>
          </p:cNvPr>
          <p:cNvSpPr txBox="1"/>
          <p:nvPr/>
        </p:nvSpPr>
        <p:spPr>
          <a:xfrm>
            <a:off x="5472106" y="5976656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15CC4F-4472-6565-4789-193105FC1F0D}"/>
              </a:ext>
            </a:extLst>
          </p:cNvPr>
          <p:cNvSpPr txBox="1"/>
          <p:nvPr/>
        </p:nvSpPr>
        <p:spPr>
          <a:xfrm>
            <a:off x="394812" y="4225838"/>
            <a:ext cx="11280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A regra foi criada de modo a bloquear o tráfego TCP/UDP proveniente da LAN2 através de qualquer uma das portas da alias criada, com destino a todas as interfaces do router/firewall.</a:t>
            </a:r>
          </a:p>
        </p:txBody>
      </p:sp>
    </p:spTree>
    <p:extLst>
      <p:ext uri="{BB962C8B-B14F-4D97-AF65-F5344CB8AC3E}">
        <p14:creationId xmlns:p14="http://schemas.microsoft.com/office/powerpoint/2010/main" val="3724411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244-8B3E-22AB-A8DC-1EE1EE86F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0727"/>
          </a:xfrm>
        </p:spPr>
        <p:txBody>
          <a:bodyPr/>
          <a:lstStyle/>
          <a:p>
            <a:r>
              <a:rPr lang="pt-PT" dirty="0"/>
              <a:t>Bloquear tráfego TCP (SYN)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13C9A-BE65-E9F9-9D12-831E07EB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61172-6303-3BE1-043D-86D4EBC49FD4}"/>
              </a:ext>
            </a:extLst>
          </p:cNvPr>
          <p:cNvSpPr txBox="1"/>
          <p:nvPr/>
        </p:nvSpPr>
        <p:spPr>
          <a:xfrm>
            <a:off x="515112" y="1910735"/>
            <a:ext cx="65202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Desenvolvemos uma regra do tipo ‘BLOCK’ que impede o tráfego TCP (SYN) na porta 22(SSH) proveniente da rede B e como destino a rede A;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>
              <a:sym typeface="Wingdings" panose="05000000000000000000" pitchFamily="2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Para efetuar o ataque vamos usar o comando ‘</a:t>
            </a:r>
            <a:r>
              <a:rPr lang="en-US" dirty="0">
                <a:sym typeface="Wingdings" panose="05000000000000000000" pitchFamily="2" charset="2"/>
              </a:rPr>
              <a:t>hping3 -S -p 22 --flood 192.168.1.2’;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>
              <a:sym typeface="Wingdings" panose="05000000000000000000" pitchFamily="2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Estando esta regra aplicada, qualquer terminal da rede B deixa de conseguir aceder a terminais na rede A por SSH sendo ainda possível os terminais da rede A se acessarem uns aos outros.</a:t>
            </a: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FB16CC-155A-D570-874C-379F32E89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119" y="1914896"/>
            <a:ext cx="4233673" cy="44071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B94C738-5BEA-05E8-2A3C-631513920B5F}"/>
              </a:ext>
            </a:extLst>
          </p:cNvPr>
          <p:cNvSpPr txBox="1"/>
          <p:nvPr/>
        </p:nvSpPr>
        <p:spPr>
          <a:xfrm>
            <a:off x="9287730" y="6419088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14</a:t>
            </a:r>
          </a:p>
        </p:txBody>
      </p:sp>
    </p:spTree>
    <p:extLst>
      <p:ext uri="{BB962C8B-B14F-4D97-AF65-F5344CB8AC3E}">
        <p14:creationId xmlns:p14="http://schemas.microsoft.com/office/powerpoint/2010/main" val="2944417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BE02F-6D4F-E261-A570-F20E755FA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99592"/>
          </a:xfrm>
        </p:spPr>
        <p:txBody>
          <a:bodyPr/>
          <a:lstStyle/>
          <a:p>
            <a:r>
              <a:rPr lang="pt-PT" dirty="0"/>
              <a:t>Bloquear tráfego UDP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7C25A-1138-8716-D6BE-1FE4DCF7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38208-9E9A-5927-A726-52DA6EA87F90}"/>
              </a:ext>
            </a:extLst>
          </p:cNvPr>
          <p:cNvSpPr txBox="1"/>
          <p:nvPr/>
        </p:nvSpPr>
        <p:spPr>
          <a:xfrm>
            <a:off x="515112" y="1937278"/>
            <a:ext cx="5895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sym typeface="Wingdings" panose="05000000000000000000" pitchFamily="2" charset="2"/>
              </a:rPr>
              <a:t>Para impedir que o comando ‘</a:t>
            </a:r>
            <a:r>
              <a:rPr lang="en-US" dirty="0"/>
              <a:t>hping3 --</a:t>
            </a:r>
            <a:r>
              <a:rPr lang="en-US" dirty="0" err="1"/>
              <a:t>udp</a:t>
            </a:r>
            <a:r>
              <a:rPr lang="en-US" dirty="0"/>
              <a:t> --flood -p 53 192.168.1.2’ cause </a:t>
            </a:r>
            <a:r>
              <a:rPr lang="en-US" dirty="0" err="1"/>
              <a:t>alguma</a:t>
            </a:r>
            <a:r>
              <a:rPr lang="en-US" dirty="0"/>
              <a:t> </a:t>
            </a:r>
            <a:r>
              <a:rPr lang="en-US" dirty="0" err="1"/>
              <a:t>alteração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rede,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desenvolvida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regra</a:t>
            </a:r>
            <a:r>
              <a:rPr lang="en-US" dirty="0"/>
              <a:t> à </a:t>
            </a:r>
            <a:r>
              <a:rPr lang="en-US" dirty="0" err="1"/>
              <a:t>semelhança</a:t>
            </a:r>
            <a:r>
              <a:rPr lang="en-US" dirty="0"/>
              <a:t> da </a:t>
            </a:r>
            <a:r>
              <a:rPr lang="en-US" dirty="0" err="1"/>
              <a:t>efetuada</a:t>
            </a:r>
            <a:r>
              <a:rPr lang="en-US" dirty="0"/>
              <a:t> para </a:t>
            </a:r>
            <a:r>
              <a:rPr lang="en-US" dirty="0" err="1"/>
              <a:t>tráfego</a:t>
            </a:r>
            <a:r>
              <a:rPr lang="en-US" dirty="0"/>
              <a:t> ICMP, que </a:t>
            </a:r>
            <a:r>
              <a:rPr lang="en-US" dirty="0" err="1"/>
              <a:t>bloqueia</a:t>
            </a:r>
            <a:r>
              <a:rPr lang="en-US" dirty="0"/>
              <a:t> </a:t>
            </a:r>
            <a:r>
              <a:rPr lang="en-US" dirty="0" err="1"/>
              <a:t>ataques</a:t>
            </a:r>
            <a:r>
              <a:rPr lang="en-US" dirty="0"/>
              <a:t> UDP </a:t>
            </a:r>
            <a:r>
              <a:rPr lang="en-US" dirty="0" err="1"/>
              <a:t>provenientes</a:t>
            </a:r>
            <a:r>
              <a:rPr lang="en-US" dirty="0"/>
              <a:t> da Rede B para </a:t>
            </a:r>
            <a:r>
              <a:rPr lang="en-US" dirty="0" err="1"/>
              <a:t>qualquer</a:t>
            </a:r>
            <a:r>
              <a:rPr lang="en-US" dirty="0"/>
              <a:t> </a:t>
            </a:r>
            <a:r>
              <a:rPr lang="en-US"/>
              <a:t>destino.</a:t>
            </a:r>
            <a:endParaRPr lang="pt-PT" dirty="0">
              <a:sym typeface="Wingdings" panose="05000000000000000000" pitchFamily="2" charset="2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0044E0-0B37-A0C0-8EA1-05846A97D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680" y="1778000"/>
            <a:ext cx="4833112" cy="442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8699FD-9C21-05F7-D952-8E18A0A1FCBC}"/>
              </a:ext>
            </a:extLst>
          </p:cNvPr>
          <p:cNvSpPr txBox="1"/>
          <p:nvPr/>
        </p:nvSpPr>
        <p:spPr>
          <a:xfrm>
            <a:off x="8942291" y="6280588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15</a:t>
            </a:r>
          </a:p>
        </p:txBody>
      </p:sp>
    </p:spTree>
    <p:extLst>
      <p:ext uri="{BB962C8B-B14F-4D97-AF65-F5344CB8AC3E}">
        <p14:creationId xmlns:p14="http://schemas.microsoft.com/office/powerpoint/2010/main" val="1436755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624A-2F83-049E-6B50-92D37E36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UDP vs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11434-E209-093E-A10C-56FF40F14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14815"/>
            <a:ext cx="4744128" cy="3767328"/>
          </a:xfrm>
        </p:spPr>
        <p:txBody>
          <a:bodyPr/>
          <a:lstStyle/>
          <a:p>
            <a:r>
              <a:rPr lang="pt-PT" dirty="0"/>
              <a:t>Logo após ativar a regra que afeta o tráfego UDP,  observamos que ao fazer uma nova tentativa de ataque, o tráfego ainda passa, mas no caso da regra para TCP isto não acontece.</a:t>
            </a:r>
          </a:p>
          <a:p>
            <a:r>
              <a:rPr lang="pt-PT" dirty="0"/>
              <a:t>Estes dois protocolos funcionam de forma diferente, por isso vamos analisar o comportamento de cada um dentro do contexto do projeto.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BAA3B-FA7C-65EC-3F24-79D8D4D6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19</a:t>
            </a:fld>
            <a:endParaRPr lang="en-US"/>
          </a:p>
        </p:txBody>
      </p:sp>
      <p:pic>
        <p:nvPicPr>
          <p:cNvPr id="1028" name="Picture 4" descr="TCP vs UDP: What's the Difference? - Shiksha Online">
            <a:extLst>
              <a:ext uri="{FF2B5EF4-FFF2-40B4-BE49-F238E27FC236}">
                <a16:creationId xmlns:a16="http://schemas.microsoft.com/office/drawing/2014/main" id="{0E071366-8774-9690-FC4F-04AE8A8EF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0"/>
          <a:stretch>
            <a:fillRect/>
          </a:stretch>
        </p:blipFill>
        <p:spPr bwMode="auto">
          <a:xfrm>
            <a:off x="5375868" y="2311296"/>
            <a:ext cx="6081564" cy="300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18">
            <a:extLst>
              <a:ext uri="{FF2B5EF4-FFF2-40B4-BE49-F238E27FC236}">
                <a16:creationId xmlns:a16="http://schemas.microsoft.com/office/drawing/2014/main" id="{CBDDF489-6887-498F-EC43-A27B2DE77646}"/>
              </a:ext>
            </a:extLst>
          </p:cNvPr>
          <p:cNvSpPr txBox="1"/>
          <p:nvPr/>
        </p:nvSpPr>
        <p:spPr>
          <a:xfrm>
            <a:off x="8104705" y="5313799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i="1" dirty="0"/>
              <a:t>Fig. 16</a:t>
            </a:r>
          </a:p>
        </p:txBody>
      </p:sp>
    </p:spTree>
    <p:extLst>
      <p:ext uri="{BB962C8B-B14F-4D97-AF65-F5344CB8AC3E}">
        <p14:creationId xmlns:p14="http://schemas.microsoft.com/office/powerpoint/2010/main" val="896749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B5FC-83FC-F0D2-20B8-ABF04EFBB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380B-C0DA-9272-741B-F2D3B1A6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UDP vs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F5374-4E26-F48F-B75C-2024C09CD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14815"/>
            <a:ext cx="10936224" cy="3767328"/>
          </a:xfrm>
        </p:spPr>
        <p:txBody>
          <a:bodyPr>
            <a:normAutofit/>
          </a:bodyPr>
          <a:lstStyle/>
          <a:p>
            <a:r>
              <a:rPr lang="pt-PT" dirty="0"/>
              <a:t>Como o UDP é </a:t>
            </a:r>
            <a:r>
              <a:rPr lang="pt-PT" dirty="0" err="1"/>
              <a:t>stateless</a:t>
            </a:r>
            <a:r>
              <a:rPr lang="pt-PT" dirty="0"/>
              <a:t>, se já existir uma entrada na tabela de estados, o tráfego continua a passar mesmo após a regra ter sido ativada porque o </a:t>
            </a:r>
            <a:r>
              <a:rPr lang="pt-PT" dirty="0" err="1"/>
              <a:t>pfSense</a:t>
            </a:r>
            <a:r>
              <a:rPr lang="pt-PT" dirty="0"/>
              <a:t> cria sessões temporárias (+/- 30 a 60 segundos) para manter o estado de fluxos UDP, daí só ser possível verificar ao fim desse tempo que os pacotes deixam então de ser vistos no </a:t>
            </a:r>
            <a:r>
              <a:rPr lang="pt-PT" dirty="0" err="1"/>
              <a:t>Wireshark</a:t>
            </a:r>
            <a:r>
              <a:rPr lang="pt-PT" dirty="0"/>
              <a:t>. </a:t>
            </a:r>
          </a:p>
          <a:p>
            <a:r>
              <a:rPr lang="pt-PT" dirty="0"/>
              <a:t>Já no caso do TCP, que é </a:t>
            </a:r>
            <a:r>
              <a:rPr lang="pt-PT" i="1" dirty="0" err="1"/>
              <a:t>stateful</a:t>
            </a:r>
            <a:r>
              <a:rPr lang="pt-PT" dirty="0"/>
              <a:t>, a firewall consegue identificar claramente o início (SYN) e o fim (FIN ou RST) de cada sessão.  Assim, quando uma nova regra de bloqueio é aplicada, ela afeta imediatamente qualquer nova tentativa de ligação, que é o que se reflete no tráfego capturado.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D951-521E-98F6-BCFF-CC971308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4032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1264</TotalTime>
  <Words>1288</Words>
  <Application>Microsoft Office PowerPoint</Application>
  <PresentationFormat>Ecrã Panorâmico</PresentationFormat>
  <Paragraphs>133</Paragraphs>
  <Slides>20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20</vt:i4>
      </vt:variant>
    </vt:vector>
  </HeadingPairs>
  <TitlesOfParts>
    <vt:vector size="25" baseType="lpstr">
      <vt:lpstr>Aptos</vt:lpstr>
      <vt:lpstr>Arial</vt:lpstr>
      <vt:lpstr>Bierstadt</vt:lpstr>
      <vt:lpstr>Wingdings</vt:lpstr>
      <vt:lpstr>GestaltVTI</vt:lpstr>
      <vt:lpstr>pfSense</vt:lpstr>
      <vt:lpstr>                 , o que é?</vt:lpstr>
      <vt:lpstr>Objetivos do Projeto</vt:lpstr>
      <vt:lpstr>Ferramentas utilizadas</vt:lpstr>
      <vt:lpstr>Topologia</vt:lpstr>
      <vt:lpstr>Atribuição das interfaces</vt:lpstr>
      <vt:lpstr>Acesso à GUI (Graphical User Interface)</vt:lpstr>
      <vt:lpstr>Rules - Overview</vt:lpstr>
      <vt:lpstr>Rules - Interface WAN</vt:lpstr>
      <vt:lpstr>Rules - Interface WAN</vt:lpstr>
      <vt:lpstr>Rules - Interface LAN1</vt:lpstr>
      <vt:lpstr>Rules - Interface LAN2</vt:lpstr>
      <vt:lpstr>PARTE EXPERIMENTAL</vt:lpstr>
      <vt:lpstr>Bloqueio de flood de tráfego ICMP</vt:lpstr>
      <vt:lpstr>Bloqueio de flood de tráfego ICMP</vt:lpstr>
      <vt:lpstr>Bloquear acesso à GUI ao Kali Linux</vt:lpstr>
      <vt:lpstr>Bloquear tráfego TCP (SYN)</vt:lpstr>
      <vt:lpstr>Bloquear tráfego UDP</vt:lpstr>
      <vt:lpstr>UDP vs TCP</vt:lpstr>
      <vt:lpstr>UDP vs TCP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Martim Oliveira Jardim Freitas</dc:creator>
  <cp:lastModifiedBy>Martim Oliveira Jardim Freitas</cp:lastModifiedBy>
  <cp:revision>31</cp:revision>
  <dcterms:created xsi:type="dcterms:W3CDTF">2025-06-01T17:12:34Z</dcterms:created>
  <dcterms:modified xsi:type="dcterms:W3CDTF">2025-06-05T23:47:50Z</dcterms:modified>
</cp:coreProperties>
</file>