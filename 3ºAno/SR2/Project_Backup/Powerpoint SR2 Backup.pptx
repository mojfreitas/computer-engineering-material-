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2" r:id="rId1"/>
    <p:sldMasterId id="2147483673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3" r:id="rId10"/>
    <p:sldId id="268" r:id="rId11"/>
    <p:sldId id="263" r:id="rId12"/>
    <p:sldId id="264" r:id="rId13"/>
    <p:sldId id="269" r:id="rId14"/>
    <p:sldId id="265" r:id="rId15"/>
    <p:sldId id="266" r:id="rId16"/>
    <p:sldId id="274" r:id="rId17"/>
    <p:sldId id="275" r:id="rId18"/>
    <p:sldId id="276" r:id="rId19"/>
    <p:sldId id="270" r:id="rId20"/>
    <p:sldId id="271" r:id="rId21"/>
    <p:sldId id="272" r:id="rId22"/>
    <p:sldId id="267" r:id="rId23"/>
  </p:sldIdLst>
  <p:sldSz cx="12192000" cy="6858000"/>
  <p:notesSz cx="6858000" cy="9144000"/>
  <p:embeddedFontLst>
    <p:embeddedFont>
      <p:font typeface="Gill Sans" panose="020B0604020202020204" charset="0"/>
      <p:regular r:id="rId25"/>
      <p:bold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563" autoAdjust="0"/>
  </p:normalViewPr>
  <p:slideViewPr>
    <p:cSldViewPr snapToGrid="0">
      <p:cViewPr varScale="1">
        <p:scale>
          <a:sx n="84" d="100"/>
          <a:sy n="84" d="100"/>
        </p:scale>
        <p:origin x="15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760" y="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1" strike="noStrike" dirty="0">
                <a:latin typeface="Arial"/>
                <a:ea typeface="Arial"/>
                <a:cs typeface="Arial"/>
                <a:sym typeface="Arial"/>
              </a:rPr>
              <a:t>PRATAS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strike="noStrike" dirty="0">
                <a:latin typeface="Arial"/>
                <a:ea typeface="Arial"/>
                <a:cs typeface="Arial"/>
                <a:sym typeface="Arial"/>
              </a:rPr>
              <a:t>Apresentação: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b="0" strike="noStrike" dirty="0">
                <a:latin typeface="Arial"/>
                <a:ea typeface="Arial"/>
                <a:cs typeface="Arial"/>
                <a:sym typeface="Arial"/>
              </a:rPr>
              <a:t>Ora bem, olá a todos, o meu nome é (...) e estes são os meus colegas o (...) e o (...) e vamos dar início à nossa apresentação que é sobre Backup e algumas das features envolvidas.</a:t>
            </a: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PRATAS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Nesta apresentação vamos abordar vários tópicos sobre backup, iniciando com a definição de backup e alguns pontos a ter em conta,  tipos de backup, as suas funcionalidades e compará-las; 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Estratégia GFS seguido das respetivas vantagens e desvantagens.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Vamos falar um pouco sobre o serviço da Microsoft chamado Azure que consiste em </a:t>
            </a:r>
            <a:r>
              <a:rPr lang="pt-PT" sz="1200" dirty="0">
                <a:latin typeface="Gill Sans"/>
                <a:ea typeface="Gill Sans"/>
                <a:cs typeface="Gill Sans"/>
                <a:sym typeface="Gill Sans"/>
              </a:rPr>
              <a:t>criar cópias de segurança em Clouds remotas.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vamos terminar a apresentação com uma breve explicação do que consistirá a parte experimental do nosso trabalho.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Peço desde já que instalem o Windows server 2022, e façam de acordo com o nosso guião, a preparação do mesmo no VirtualBox (Enviar po discord).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/>
              <a:t>(PRATAS)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dirty="0"/>
              <a:t>Backup, é basicamente a cópia de dados de um dispositivo de armazenamento, para outro de informação considerada importante com o objetivo de ter sempre uma forma de recuperar algo de valor que possa, acidentalmente ou não, ter sido eventualmente apagado. De certeza que é algo que todos nós já fizemos (ou devêssemos ter feito ne), pois é sempre recomendável fazer um backup de x em x tempo. Para facilitar esse processo, foram criados vários tipos de backup e estratégias de forma a corresponder com as necessidades de cada um. (NEXT SLIDE)</a:t>
            </a:r>
            <a:endParaRPr b="1" dirty="0"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(MARTIM)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[Acaba de ler os 5 topicos e diz]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São 5, sendo que vamos falar dos 3 mais cruciais, no caso o Completo, incremental e diferencial.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gráfico à direita, podemos observar que há uma certa proporcionalidade entre eles como mostra o diagrama entre restauração e velocidade de execução do backup, e vamos já ver isso mais detalhadamente nos próximos slides.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(MARTIM)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o que quer dizer isto de atributo de arquivo é desmarcado? (pausazinha)</a:t>
            </a:r>
            <a:br>
              <a:rPr lang="pt-PT" dirty="0"/>
            </a:b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Antes do backup, o atributo arquivo é ativado automaticamente assim que vocês criam ou modificam o arquivo, servindo assim de indicador para um eventual próximo backup.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171360" lvl="0" indent="-171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Neste caso do backup completo, estando a opção “Arquivar” ativa ou não, tudo o que for selecionado é copiado.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171360" lvl="0" indent="-171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Após o backup, esta opção fica então desmarcada.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(MARTIM)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Ao contrário do que vimos no slide anterior, este tipo de backup vai ocupar menos espaço no disco, é mais eficaz pois também a quantidade de arquivos no processo de backup é menor, tornando esta uma opção mais viável para quem tem a necessidade de fazer backups frequentes.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(MARTIM)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 bom exemplo para perceber bem o que foi dito é:</a:t>
            </a:r>
            <a:br>
              <a:rPr lang="pt-PT" b="1" dirty="0"/>
            </a:b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imaginemos:</a:t>
            </a:r>
            <a:br>
              <a:rPr lang="pt-PT" b="1" dirty="0"/>
            </a:b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dia 1 fazemos um Backup completo.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dia 2, fazemos backup diferencial que copia as alterações feitas desde o backup completo do Dia 1.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no dia 3, outro backup diferencial (copia todas as alterações desde o Dia 1 e Dia 2).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(MARTIM)</a:t>
            </a:r>
          </a:p>
          <a:p>
            <a:r>
              <a:rPr lang="pt-PT" b="1" dirty="0"/>
              <a:t>Neste gráfico, podemos observar que no First backup em todos os casos, temos dos dados do A1-&gt;A10</a:t>
            </a:r>
          </a:p>
          <a:p>
            <a:r>
              <a:rPr lang="pt-PT" b="1" dirty="0"/>
              <a:t>No caso do Full Backup, vemos que todos os dados são copiados nos 3 backups efetuados, enquanto no Diferencial e Incremental temos no segundo backup apenas aqueles dados que foram alterados.</a:t>
            </a:r>
          </a:p>
          <a:p>
            <a:r>
              <a:rPr lang="pt-PT" b="1" dirty="0"/>
              <a:t>No terceiro backup, é então possível ver o contraste entre o Differencial e o Incremental, pois no Diferencial podemos ver que faz o 3º backup incluindo os dados alterados no segundo  e inclui agora o exemplo do A5, enquanto o </a:t>
            </a:r>
            <a:r>
              <a:rPr lang="pt-PT" b="1" u="sng" dirty="0"/>
              <a:t>incremental</a:t>
            </a:r>
            <a:r>
              <a:rPr lang="pt-PT" b="1" dirty="0"/>
              <a:t> faz o 3º backup apenas do ultimo dado alterado do 2º para o 3º que no caso é o A5.</a:t>
            </a:r>
          </a:p>
          <a:p>
            <a:r>
              <a:rPr lang="pt-PT" b="1" dirty="0"/>
              <a:t>A conclusão que tiramos é que o Full vai ser sempre o que ocupa mais espaço de armazenamento, o differencial ocupa mais que o incremenatal ao longo do tempo, sendo o incremental o que ocupa menos e o mais rápido de executar e no que toca à restauração dos mesmos, o Incremental é então o mais  complexo de ser restaurado pois requer o backup completo inicial e todos os incrementais subsequentes, o diferencial precisa apenas do 1º e o último, e no caso do Full Backup, basta restaurar o último efetuado.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pt-PT"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5731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(MARTIM)</a:t>
            </a:r>
          </a:p>
          <a:p>
            <a:r>
              <a:rPr lang="pt-PT" b="1" dirty="0"/>
              <a:t>Vamos passar agora à estratégia GFS e à importância da mesma no contexto de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pt-PT"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4999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PT" sz="18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(MARTIM)</a:t>
            </a:r>
            <a:endParaRPr lang="pt-PT" sz="1800" b="1" strike="noStrike" dirty="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É um esquema de rotação de backups amplamente utilizado para </a:t>
            </a:r>
            <a:r>
              <a:rPr lang="pt-PT" sz="1800" b="1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organizar</a:t>
            </a: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eficientemente os dados ao longo do tempo </a:t>
            </a:r>
            <a:r>
              <a:rPr lang="pt-PT" sz="1800" b="1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por meio de</a:t>
            </a: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uma hierarquia.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Temos 3 Etapas.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Arial"/>
                <a:cs typeface="Arial"/>
                <a:sym typeface="Gill Sans"/>
              </a:rPr>
              <a:t>Filho sao realizados com maior frequência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Arial"/>
                <a:cs typeface="Arial"/>
                <a:sym typeface="Gill Sans"/>
              </a:rPr>
              <a:t>Pai, sao de medio prazo (semanais) e substituem os diários ao fim de cada semana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Arial"/>
                <a:cs typeface="Arial"/>
                <a:sym typeface="Gill Sans"/>
              </a:rPr>
              <a:t>Avô s</a:t>
            </a: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ão backups de longo prazo (geralmente mensais) que substituem os backups semanais ao final de cada mês.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Arial"/>
                <a:cs typeface="Arial"/>
                <a:sym typeface="Gill Sans"/>
              </a:rPr>
              <a:t>Esta estratégia é adaptada respondendo às necessidades de cada um, sendo a imagem apenas um exemplo prático desta estratégia.</a:t>
            </a:r>
            <a:endParaRPr lang="pt-PT" sz="18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(MARTIM)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Retenção flexível</a:t>
            </a: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(oferecendo cobertura para curto, médio e longo prazo)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Organização eficiente </a:t>
            </a: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(quando e como os backups devem ser substituídos)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Economia de espaço </a:t>
            </a: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(os backups diários (son) são rotacionados frequentemente).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Redundância e confiabilidade (</a:t>
            </a: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uso de diferentes níveis de backups protege contra perda de dados</a:t>
            </a: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dirty="0"/>
              <a:t>conformidade com políticas de retenção (</a:t>
            </a:r>
            <a:r>
              <a:rPr lang="pt-PT" sz="1200" b="1" dirty="0"/>
              <a:t>segue as regras de retenção e manter os dados seguros por mais tempo).</a:t>
            </a:r>
            <a:endParaRPr lang="pt-PT"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PT"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Desvantagens:</a:t>
            </a:r>
            <a:endParaRPr lang="pt-PT"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(1) Requer planeamento cuidadoso e ferramentas para automatizar a rotação e retenção.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(2) A depender do ambiente, pode exigir mais recursos de armazenamento e backup.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(3) O uso de backups completos em níveis semanais e mensais pode aumentar o tempo e o consumo de recursos durante a execução.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(FRANCISCO)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pt-PT"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98697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6e37cc36a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16e37cc36a_2_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(FRANCISCO)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Retenção flexível</a:t>
            </a: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(oferecendo cobertura para curto, médio e longo prazo)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Organização eficiente </a:t>
            </a: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(quando e como os backups devem ser substituídos)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Economia de espaço </a:t>
            </a: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(os backups diários (son) são rotacionados frequentemente).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Redundância e confiabilidade (</a:t>
            </a: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uso de diferentes níveis de backups protege contra perda de dados</a:t>
            </a: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Desvantagens: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(1) Requer planejamento cuidadoso e ferramentas para automatizar a rotação e retenção.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(2) A depender do ambiente, pode exigir mais recursos de armazenamento e backup.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(3) O uso de backups completos em níveis semanais e mensais pode aumentar o tempo e o consumo de recursos durante a execução.</a:t>
            </a:r>
            <a:endParaRPr sz="1200" b="1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16e37cc36a_2_5:notes"/>
          <p:cNvSpPr txBox="1"/>
          <p:nvPr/>
        </p:nvSpPr>
        <p:spPr>
          <a:xfrm>
            <a:off x="3884760" y="868536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6e37cc36a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16e37cc36a_2_27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1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(FRANCISCO)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Retenção flexível</a:t>
            </a: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(oferecendo cobertura para curto, médio e longo prazo)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Organização eficiente </a:t>
            </a: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(quando e como os backups devem ser substituídos)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Economia de espaço </a:t>
            </a: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(os backups diários (son) são rotacionados frequentemente).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Redundância e confiabilidade (</a:t>
            </a: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uso de diferentes níveis de backups protege contra perda de dados</a:t>
            </a:r>
            <a:r>
              <a:rPr lang="pt-PT" sz="1200" b="0" u="sng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Desvantagens: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(1) Requer planejamento cuidadoso e ferramentas para automatizar a rotação e retenção.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(2) A depender do ambiente, pode exigir mais recursos de armazenamento e backup.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(3) O uso de backups completos em níveis semanais e mensais pode aumentar o tempo e o consumo de recursos durante a execução.</a:t>
            </a:r>
            <a:endParaRPr sz="12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16e37cc36a_2_27:notes"/>
          <p:cNvSpPr txBox="1"/>
          <p:nvPr/>
        </p:nvSpPr>
        <p:spPr>
          <a:xfrm>
            <a:off x="3884760" y="868536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FRANCISCO</a:t>
            </a:r>
          </a:p>
          <a:p>
            <a:r>
              <a:rPr lang="pt-PT" dirty="0"/>
              <a:t>Neste slide podem aceder ao vídeo de como fazer backup no Windows Server sem GUI.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pt-PT"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0374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(PRATAS)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pt-PT"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3751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(PRATAS)</a:t>
            </a:r>
          </a:p>
          <a:p>
            <a:r>
              <a:rPr lang="pt-PT"/>
              <a:t>A sublinhado está o que é preciso para fazerem a Experiência proposta.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pt-PT"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10213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(PRATAS)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i="0" u="none" strike="noStrike" cap="none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pt-PT" sz="12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8900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:notes"/>
          <p:cNvSpPr txBox="1"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2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581040" y="2495520"/>
            <a:ext cx="1099368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1099368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581040" y="1020600"/>
            <a:ext cx="10993680" cy="6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3"/>
          </p:nvPr>
        </p:nvSpPr>
        <p:spPr>
          <a:xfrm>
            <a:off x="581040" y="280404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3"/>
          </p:nvPr>
        </p:nvSpPr>
        <p:spPr>
          <a:xfrm>
            <a:off x="6214320" y="280404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3"/>
          </p:nvPr>
        </p:nvSpPr>
        <p:spPr>
          <a:xfrm>
            <a:off x="581040" y="2804040"/>
            <a:ext cx="109936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109936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2"/>
          </p:nvPr>
        </p:nvSpPr>
        <p:spPr>
          <a:xfrm>
            <a:off x="581040" y="2804040"/>
            <a:ext cx="109936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3"/>
          </p:nvPr>
        </p:nvSpPr>
        <p:spPr>
          <a:xfrm>
            <a:off x="581040" y="280404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4"/>
          </p:nvPr>
        </p:nvSpPr>
        <p:spPr>
          <a:xfrm>
            <a:off x="6214320" y="280404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2"/>
          </p:nvPr>
        </p:nvSpPr>
        <p:spPr>
          <a:xfrm>
            <a:off x="4298400" y="249552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3"/>
          </p:nvPr>
        </p:nvSpPr>
        <p:spPr>
          <a:xfrm>
            <a:off x="8015400" y="249552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4"/>
          </p:nvPr>
        </p:nvSpPr>
        <p:spPr>
          <a:xfrm>
            <a:off x="581040" y="280404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5"/>
          </p:nvPr>
        </p:nvSpPr>
        <p:spPr>
          <a:xfrm>
            <a:off x="4298400" y="280404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6"/>
          </p:nvPr>
        </p:nvSpPr>
        <p:spPr>
          <a:xfrm>
            <a:off x="8015400" y="280404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581040" y="2495520"/>
            <a:ext cx="1099368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1099368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subTitle" idx="1"/>
          </p:nvPr>
        </p:nvSpPr>
        <p:spPr>
          <a:xfrm>
            <a:off x="581040" y="1020600"/>
            <a:ext cx="10993680" cy="6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3"/>
          </p:nvPr>
        </p:nvSpPr>
        <p:spPr>
          <a:xfrm>
            <a:off x="581040" y="280404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3"/>
          </p:nvPr>
        </p:nvSpPr>
        <p:spPr>
          <a:xfrm>
            <a:off x="6214320" y="280404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3"/>
          </p:nvPr>
        </p:nvSpPr>
        <p:spPr>
          <a:xfrm>
            <a:off x="581040" y="2804040"/>
            <a:ext cx="109936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109936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2"/>
          </p:nvPr>
        </p:nvSpPr>
        <p:spPr>
          <a:xfrm>
            <a:off x="581040" y="2804040"/>
            <a:ext cx="109936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2"/>
          </p:nvPr>
        </p:nvSpPr>
        <p:spPr>
          <a:xfrm>
            <a:off x="6214320" y="249552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3"/>
          </p:nvPr>
        </p:nvSpPr>
        <p:spPr>
          <a:xfrm>
            <a:off x="581040" y="280404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body" idx="4"/>
          </p:nvPr>
        </p:nvSpPr>
        <p:spPr>
          <a:xfrm>
            <a:off x="6214320" y="2804040"/>
            <a:ext cx="536472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body" idx="1"/>
          </p:nvPr>
        </p:nvSpPr>
        <p:spPr>
          <a:xfrm>
            <a:off x="581040" y="249552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2"/>
          </p:nvPr>
        </p:nvSpPr>
        <p:spPr>
          <a:xfrm>
            <a:off x="4298400" y="249552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body" idx="3"/>
          </p:nvPr>
        </p:nvSpPr>
        <p:spPr>
          <a:xfrm>
            <a:off x="8015400" y="249552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body" idx="4"/>
          </p:nvPr>
        </p:nvSpPr>
        <p:spPr>
          <a:xfrm>
            <a:off x="581040" y="280404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body" idx="5"/>
          </p:nvPr>
        </p:nvSpPr>
        <p:spPr>
          <a:xfrm>
            <a:off x="4298400" y="280404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6"/>
          </p:nvPr>
        </p:nvSpPr>
        <p:spPr>
          <a:xfrm>
            <a:off x="8015400" y="2804040"/>
            <a:ext cx="3539880" cy="28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46400" y="457200"/>
            <a:ext cx="3703320" cy="950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</p:sp>
      <p:sp>
        <p:nvSpPr>
          <p:cNvPr id="11" name="Google Shape;11;p1"/>
          <p:cNvSpPr/>
          <p:nvPr/>
        </p:nvSpPr>
        <p:spPr>
          <a:xfrm>
            <a:off x="8042040" y="453600"/>
            <a:ext cx="3703320" cy="986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69FA7"/>
          </a:solidFill>
          <a:ln>
            <a:noFill/>
          </a:ln>
        </p:spPr>
      </p:sp>
      <p:sp>
        <p:nvSpPr>
          <p:cNvPr id="12" name="Google Shape;12;p1"/>
          <p:cNvSpPr/>
          <p:nvPr/>
        </p:nvSpPr>
        <p:spPr>
          <a:xfrm>
            <a:off x="4241880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590B8"/>
          </a:solidFill>
          <a:ln>
            <a:noFill/>
          </a:ln>
        </p:spPr>
      </p:sp>
      <p:sp>
        <p:nvSpPr>
          <p:cNvPr id="13" name="Google Shape;13;p1"/>
          <p:cNvSpPr/>
          <p:nvPr/>
        </p:nvSpPr>
        <p:spPr>
          <a:xfrm>
            <a:off x="446400" y="3085920"/>
            <a:ext cx="11262960" cy="3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</p: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581040" y="1020600"/>
            <a:ext cx="10993680" cy="14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dt" idx="10"/>
          </p:nvPr>
        </p:nvSpPr>
        <p:spPr>
          <a:xfrm>
            <a:off x="7606080" y="5956200"/>
            <a:ext cx="2844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ftr" idx="11"/>
          </p:nvPr>
        </p:nvSpPr>
        <p:spPr>
          <a:xfrm>
            <a:off x="581040" y="5951880"/>
            <a:ext cx="69170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11066400" y="65160"/>
            <a:ext cx="10162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5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pt-PT" dirty="0"/>
              <a:t>&lt;#&gt;</a:t>
            </a:r>
            <a:endParaRPr lang="pt-PT" b="0" dirty="0"/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446400" y="457200"/>
            <a:ext cx="3703320" cy="950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</p:sp>
      <p:sp>
        <p:nvSpPr>
          <p:cNvPr id="69" name="Google Shape;69;p14"/>
          <p:cNvSpPr/>
          <p:nvPr/>
        </p:nvSpPr>
        <p:spPr>
          <a:xfrm>
            <a:off x="8042040" y="453600"/>
            <a:ext cx="3703320" cy="986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969FA7"/>
          </a:solidFill>
          <a:ln>
            <a:noFill/>
          </a:ln>
        </p:spPr>
      </p:sp>
      <p:sp>
        <p:nvSpPr>
          <p:cNvPr id="70" name="Google Shape;70;p14"/>
          <p:cNvSpPr/>
          <p:nvPr/>
        </p:nvSpPr>
        <p:spPr>
          <a:xfrm>
            <a:off x="4241880" y="457200"/>
            <a:ext cx="3703320" cy="91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590B8"/>
          </a:solidFill>
          <a:ln>
            <a:noFill/>
          </a:ln>
        </p:spPr>
      </p:sp>
      <p:sp>
        <p:nvSpPr>
          <p:cNvPr id="71" name="Google Shape;71;p14"/>
          <p:cNvSpPr/>
          <p:nvPr/>
        </p:nvSpPr>
        <p:spPr>
          <a:xfrm>
            <a:off x="446040" y="606600"/>
            <a:ext cx="11300040" cy="1258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 idx="2"/>
          </p:nvPr>
        </p:nvSpPr>
        <p:spPr>
          <a:xfrm>
            <a:off x="581040" y="2228040"/>
            <a:ext cx="542232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 idx="3"/>
          </p:nvPr>
        </p:nvSpPr>
        <p:spPr>
          <a:xfrm>
            <a:off x="6188400" y="2228040"/>
            <a:ext cx="542232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7606080" y="5956200"/>
            <a:ext cx="2844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581040" y="5951880"/>
            <a:ext cx="69170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pic>
        <p:nvPicPr>
          <p:cNvPr id="133" name="Google Shape;133;p27" descr="Ligações Digitais"/>
          <p:cNvPicPr preferRelativeResize="0"/>
          <p:nvPr/>
        </p:nvPicPr>
        <p:blipFill rotWithShape="1">
          <a:blip r:embed="rId3">
            <a:alphaModFix/>
          </a:blip>
          <a:srcRect l="13264" t="9092" r="350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27"/>
          <p:cNvGrpSpPr/>
          <p:nvPr/>
        </p:nvGrpSpPr>
        <p:grpSpPr>
          <a:xfrm>
            <a:off x="446400" y="453600"/>
            <a:ext cx="11298960" cy="98640"/>
            <a:chOff x="446400" y="453600"/>
            <a:chExt cx="11298960" cy="98640"/>
          </a:xfrm>
        </p:grpSpPr>
        <p:sp>
          <p:nvSpPr>
            <p:cNvPr id="135" name="Google Shape;135;p27"/>
            <p:cNvSpPr/>
            <p:nvPr/>
          </p:nvSpPr>
          <p:spPr>
            <a:xfrm>
              <a:off x="446400" y="457200"/>
              <a:ext cx="3703320" cy="95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3260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8042040" y="453600"/>
              <a:ext cx="3703320" cy="986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969FA7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4241880" y="457200"/>
              <a:ext cx="3703320" cy="914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590B8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38" name="Google Shape;138;p27"/>
          <p:cNvSpPr/>
          <p:nvPr/>
        </p:nvSpPr>
        <p:spPr>
          <a:xfrm>
            <a:off x="448560" y="4428000"/>
            <a:ext cx="11260800" cy="1962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>
              <a:alpha val="96862"/>
            </a:srgbClr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39" name="Google Shape;139;p27"/>
          <p:cNvSpPr txBox="1"/>
          <p:nvPr/>
        </p:nvSpPr>
        <p:spPr>
          <a:xfrm>
            <a:off x="482640" y="4655160"/>
            <a:ext cx="10993680" cy="64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60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SERVIÇOS DE REDE 2</a:t>
            </a:r>
            <a:endParaRPr sz="6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529380" y="5304240"/>
            <a:ext cx="11128320" cy="148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 b="0" i="0" u="sng" strike="noStrike" cap="none" dirty="0">
                <a:solidFill>
                  <a:srgbClr val="7CEBFF"/>
                </a:solidFill>
                <a:latin typeface="Gill Sans"/>
                <a:ea typeface="Gill Sans"/>
                <a:cs typeface="Gill Sans"/>
                <a:sym typeface="Gill Sans"/>
              </a:rPr>
              <a:t>TRABALHO REALIZADO POR:</a:t>
            </a: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802"/>
              </a:spcBef>
              <a:spcAft>
                <a:spcPts val="0"/>
              </a:spcAft>
              <a:buNone/>
            </a:pPr>
            <a:r>
              <a:rPr lang="pt-PT" sz="1000" b="1" i="0" u="none" strike="noStrike" cap="none" dirty="0">
                <a:solidFill>
                  <a:srgbClr val="7CEBFF"/>
                </a:solidFill>
                <a:latin typeface="Gill Sans"/>
                <a:ea typeface="Gill Sans"/>
                <a:cs typeface="Gill Sans"/>
                <a:sym typeface="Gill Sans"/>
              </a:rPr>
              <a:t>MARTIM FREITAS               nº  2021145193</a:t>
            </a:r>
            <a:endParaRPr sz="1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802"/>
              </a:spcBef>
              <a:spcAft>
                <a:spcPts val="0"/>
              </a:spcAft>
              <a:buNone/>
            </a:pPr>
            <a:r>
              <a:rPr lang="pt-PT" sz="1000" b="1" i="0" u="none" strike="noStrike" cap="none" dirty="0">
                <a:solidFill>
                  <a:srgbClr val="7CEBFF"/>
                </a:solidFill>
                <a:latin typeface="Gill Sans"/>
                <a:ea typeface="Gill Sans"/>
                <a:cs typeface="Gill Sans"/>
                <a:sym typeface="Gill Sans"/>
              </a:rPr>
              <a:t>GUILHERME PRATAS        nº  2022136119</a:t>
            </a:r>
            <a:endParaRPr sz="1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802"/>
              </a:spcBef>
              <a:spcAft>
                <a:spcPts val="0"/>
              </a:spcAft>
              <a:buNone/>
            </a:pPr>
            <a:r>
              <a:rPr lang="pt-PT" sz="1000" b="1" i="0" u="none" strike="noStrike" cap="none" dirty="0">
                <a:solidFill>
                  <a:srgbClr val="7CEBFF"/>
                </a:solidFill>
                <a:latin typeface="Gill Sans"/>
                <a:ea typeface="Gill Sans"/>
                <a:cs typeface="Gill Sans"/>
                <a:sym typeface="Gill Sans"/>
              </a:rPr>
              <a:t>FRANCISCO ALVES           nº  2022139500</a:t>
            </a:r>
            <a:endParaRPr sz="10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80000"/>
              </a:lnSpc>
              <a:spcBef>
                <a:spcPts val="802"/>
              </a:spcBef>
              <a:spcAft>
                <a:spcPts val="0"/>
              </a:spcAft>
              <a:buNone/>
            </a:pPr>
            <a:r>
              <a:rPr lang="pt-PT" sz="1000" b="1" i="0" u="none" strike="noStrike" cap="none" dirty="0">
                <a:solidFill>
                  <a:srgbClr val="7CEBFF"/>
                </a:solidFill>
                <a:latin typeface="Gill Sans"/>
                <a:ea typeface="Gill Sans"/>
                <a:cs typeface="Gill Sans"/>
                <a:sym typeface="Gill Sans"/>
              </a:rPr>
              <a:t>DOCENTE: LUÍS SANTOS</a:t>
            </a:r>
            <a:endParaRPr sz="1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446400" y="502920"/>
            <a:ext cx="11532240" cy="125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60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WINDOWS SERVER BACKUP</a:t>
            </a:r>
            <a:endParaRPr sz="6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446400" y="1762560"/>
            <a:ext cx="10993680" cy="87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INSTITUTO SUPERIOR DE ENGENHARIA DE COIMBRA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ANO LETIVO 2024/2025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11133900" y="55440"/>
            <a:ext cx="101628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5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7" descr="ISEC - Instituto Superior de Engenharia de Coimbra | Instituto Politécnico  de Coimbr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34720" y="4492440"/>
            <a:ext cx="1507320" cy="59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INTRODUÇÃO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581040" y="2228040"/>
            <a:ext cx="571788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2208"/>
              <a:buFont typeface="Noto Sans Symbols"/>
              <a:buChar char="◼"/>
            </a:pPr>
            <a:r>
              <a:rPr lang="pt-PT" sz="24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Nesta apresentação vamos abordar: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AutoNum type="arabicPeriod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Tipos de backup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AutoNum type="arabicPeriod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Estratégia GFS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AutoNum type="arabicPeriod"/>
            </a:pPr>
            <a:r>
              <a:rPr lang="pt-PT" sz="1800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Microsoft Azure</a:t>
            </a: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11084400" y="-97013"/>
            <a:ext cx="1052640" cy="63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5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O Que É Backup? Saiba Como Fazer e Por Que É Importante">
            <a:extLst>
              <a:ext uri="{FF2B5EF4-FFF2-40B4-BE49-F238E27FC236}">
                <a16:creationId xmlns:a16="http://schemas.microsoft.com/office/drawing/2014/main" id="{18E4487C-2437-1D10-1318-15988810E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413" y="2084025"/>
            <a:ext cx="3918427" cy="392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BACKUP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581040" y="1717920"/>
            <a:ext cx="5422320" cy="414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5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O que é?</a:t>
            </a:r>
            <a:endParaRPr sz="25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É a cópia de dados de um dispositivo de armazenamento para outro de informação importante e que deverá estar guardada num lugar seguro durante um dado intervalo temporal. 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6188400" y="1717920"/>
            <a:ext cx="5422320" cy="414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500" b="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Qual o objetivo: </a:t>
            </a:r>
            <a:endParaRPr sz="2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Recuperar os dados em casa de falha (perda dos dados originais). 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Aceder a versões anteriores que pode ocorrer por apagamento acidental ou corrupção dos dados. 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5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TIPOS DE BACKUP</a:t>
            </a:r>
            <a:endParaRPr sz="2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30" descr="A diagram of a process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0760" y="2846160"/>
            <a:ext cx="5423040" cy="2458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 txBox="1"/>
          <p:nvPr/>
        </p:nvSpPr>
        <p:spPr>
          <a:xfrm>
            <a:off x="509040" y="2258640"/>
            <a:ext cx="542232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2208"/>
              <a:buFont typeface="Noto Sans Symbols"/>
              <a:buChar char="◼"/>
            </a:pPr>
            <a:r>
              <a:rPr lang="pt-PT" sz="24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Os tipos de backup existentes são: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Completo/Integral/Normal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Incremental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Diferencial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Cópia</a:t>
            </a: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Arial"/>
                <a:cs typeface="Arial"/>
                <a:sym typeface="Gill Sans"/>
              </a:rPr>
              <a:t>Diário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5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BACKUP COMPLETO / INTEGRAL / NORMAL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581040" y="2099880"/>
            <a:ext cx="5422320" cy="224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Copia todos os arquivos selecionados e marca-os como arquivos que passaram por backup (ou seja, o atributo de arquivo é desmarcado). 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Requer mais espaço de armazenamento.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Processo relativamente lento.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31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6520" y="2404440"/>
            <a:ext cx="3667680" cy="27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1"/>
          <p:cNvSpPr/>
          <p:nvPr/>
        </p:nvSpPr>
        <p:spPr>
          <a:xfrm rot="-8231400">
            <a:off x="6968880" y="3164040"/>
            <a:ext cx="437040" cy="188280"/>
          </a:xfrm>
          <a:custGeom>
            <a:avLst/>
            <a:gdLst/>
            <a:ahLst/>
            <a:cxnLst/>
            <a:rect l="l" t="t" r="r" b="b"/>
            <a:pathLst>
              <a:path w="1215" h="525" extrusionOk="0">
                <a:moveTo>
                  <a:pt x="1214" y="130"/>
                </a:moveTo>
                <a:lnTo>
                  <a:pt x="274" y="132"/>
                </a:lnTo>
                <a:lnTo>
                  <a:pt x="273" y="0"/>
                </a:lnTo>
                <a:lnTo>
                  <a:pt x="0" y="263"/>
                </a:lnTo>
                <a:lnTo>
                  <a:pt x="274" y="524"/>
                </a:lnTo>
                <a:lnTo>
                  <a:pt x="274" y="394"/>
                </a:lnTo>
                <a:lnTo>
                  <a:pt x="1214" y="392"/>
                </a:lnTo>
                <a:lnTo>
                  <a:pt x="1214" y="130"/>
                </a:lnTo>
              </a:path>
            </a:pathLst>
          </a:custGeom>
          <a:solidFill>
            <a:srgbClr val="1A3260"/>
          </a:solidFill>
          <a:ln w="22300" cap="flat" cmpd="sng">
            <a:solidFill>
              <a:srgbClr val="050F2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181" name="Google Shape;181;p31"/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5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BACKUP INCREMENTAL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2"/>
          <p:cNvSpPr txBox="1"/>
          <p:nvPr/>
        </p:nvSpPr>
        <p:spPr>
          <a:xfrm>
            <a:off x="581040" y="2127240"/>
            <a:ext cx="5220000" cy="251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Só copia os arquivos criados ou alterados desde o último backup normal ou incremental e marca-os como arquivos que passaram por backup (o atributo de arquivo é desmarcado).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i="0" u="none" strike="noStrike" cap="non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É amplamente usado, por ser rápido e economizar espaço de armazenamento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6188400" y="2228040"/>
            <a:ext cx="542232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BACKUP DIFERENCIAL 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3"/>
          <p:cNvSpPr txBox="1"/>
          <p:nvPr/>
        </p:nvSpPr>
        <p:spPr>
          <a:xfrm>
            <a:off x="581040" y="2228040"/>
            <a:ext cx="5422320" cy="177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Um backup diferencial copia arquivos criados ou alterados desde o último backup normal ou incremental efetuado. Não marca os arquivos como arquivos que passaram por backup (o atributo de arquivo não é desmarcado).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6188400" y="2228040"/>
            <a:ext cx="542232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3"/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m carregada">
            <a:extLst>
              <a:ext uri="{FF2B5EF4-FFF2-40B4-BE49-F238E27FC236}">
                <a16:creationId xmlns:a16="http://schemas.microsoft.com/office/drawing/2014/main" id="{2D8036B3-7DAE-47EA-4C55-EC1628683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133" y="2009832"/>
            <a:ext cx="8156257" cy="4540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77;p31">
            <a:extLst>
              <a:ext uri="{FF2B5EF4-FFF2-40B4-BE49-F238E27FC236}">
                <a16:creationId xmlns:a16="http://schemas.microsoft.com/office/drawing/2014/main" id="{FADC1F59-D244-E6B9-9759-6E31DE42BCDD}"/>
              </a:ext>
            </a:extLst>
          </p:cNvPr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Comparação</a:t>
            </a:r>
            <a:endParaRPr sz="2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99;p33">
            <a:extLst>
              <a:ext uri="{FF2B5EF4-FFF2-40B4-BE49-F238E27FC236}">
                <a16:creationId xmlns:a16="http://schemas.microsoft.com/office/drawing/2014/main" id="{3813F1E6-3CB2-1B4E-8EB7-0F90852AE7FB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932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4;p34">
            <a:extLst>
              <a:ext uri="{FF2B5EF4-FFF2-40B4-BE49-F238E27FC236}">
                <a16:creationId xmlns:a16="http://schemas.microsoft.com/office/drawing/2014/main" id="{888DEEA8-53C4-10B7-F702-75B993055BE5}"/>
              </a:ext>
            </a:extLst>
          </p:cNvPr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ESTRATÉGIA GFS (G</a:t>
            </a:r>
            <a:r>
              <a:rPr lang="pt-PT" sz="2800" b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RANDFATHER-FATHER-SON</a:t>
            </a:r>
            <a:r>
              <a:rPr lang="pt-PT" sz="2800" b="0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sz="28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08;p34" descr="Exemplo de Estratégia Grandfather-Father-Son (GFS) no Bacula - Bacula  Brasil e América Latina">
            <a:extLst>
              <a:ext uri="{FF2B5EF4-FFF2-40B4-BE49-F238E27FC236}">
                <a16:creationId xmlns:a16="http://schemas.microsoft.com/office/drawing/2014/main" id="{100C98C4-35A4-9FC4-61DB-09A747D867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6000" y="2526030"/>
            <a:ext cx="6193710" cy="33644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0EE8ECDF-AE10-26AD-A77D-FFC2D8B3DD2A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828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ESTRATÉGIA GFS (G</a:t>
            </a:r>
            <a:r>
              <a:rPr lang="pt-PT" sz="2800" b="0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RANDFATHER-FATHER-SON</a:t>
            </a:r>
            <a:r>
              <a:rPr lang="pt-PT" sz="2800" b="0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sz="28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581040" y="2228040"/>
            <a:ext cx="5422320" cy="158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É um esquema de rotação de backups amplamente utilizado para </a:t>
            </a:r>
            <a:r>
              <a:rPr lang="pt-PT" sz="1800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organizar</a:t>
            </a:r>
            <a:r>
              <a:rPr lang="pt-PT" sz="18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eficientemente os dados ao longo do tempo </a:t>
            </a:r>
            <a:r>
              <a:rPr lang="pt-PT" sz="1800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por meio de</a:t>
            </a:r>
            <a:r>
              <a:rPr lang="pt-PT" sz="18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uma hierarquia.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6188400" y="2228040"/>
            <a:ext cx="5422320" cy="317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Son (Filho):</a:t>
            </a:r>
            <a:r>
              <a:rPr lang="pt-PT" sz="18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São os backups realizados com maior frequência (geralmente diários).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Father (Pai):</a:t>
            </a:r>
            <a:r>
              <a:rPr lang="pt-PT" sz="18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São backups de médio prazo (geralmente semanais) que substituem os backups diários ao final de cada semana.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656"/>
              <a:buFont typeface="Noto Sans Symbols"/>
              <a:buChar char="◼"/>
            </a:pPr>
            <a:r>
              <a:rPr lang="pt-PT" sz="1800" b="1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Grandfather (Avô):</a:t>
            </a:r>
            <a:r>
              <a:rPr lang="pt-PT" sz="18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São backups de longo prazo (geralmente mensais) que substituem os backups semanais ao final de cada mês.</a:t>
            </a:r>
            <a:endParaRPr sz="1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40B44A-A527-20C7-481C-F33002ADB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657600"/>
            <a:ext cx="5836920" cy="2918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/>
        </p:nvSpPr>
        <p:spPr>
          <a:xfrm>
            <a:off x="581040" y="729720"/>
            <a:ext cx="1102968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0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ESTRATÉGIA GFS (G</a:t>
            </a:r>
            <a:r>
              <a:rPr lang="pt-PT" sz="2800" b="0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RANDFATHER-FATHER-SON</a:t>
            </a:r>
            <a:r>
              <a:rPr lang="pt-PT" sz="2800" b="0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5"/>
          <p:cNvSpPr txBox="1"/>
          <p:nvPr/>
        </p:nvSpPr>
        <p:spPr>
          <a:xfrm>
            <a:off x="581040" y="2228040"/>
            <a:ext cx="542232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2208"/>
              <a:buFont typeface="Noto Sans Symbols"/>
              <a:buChar char="◼"/>
            </a:pPr>
            <a:r>
              <a:rPr lang="pt-PT" sz="24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Vantagens </a:t>
            </a:r>
            <a:endParaRPr sz="24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380"/>
              <a:buFont typeface="Arial"/>
              <a:buChar char="-"/>
            </a:pPr>
            <a:r>
              <a:rPr lang="pt-PT" sz="15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Retenção flexível (cobertura para curto, médio e longo prazo)</a:t>
            </a:r>
            <a:endParaRPr sz="15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Organização eficiente</a:t>
            </a:r>
            <a:endParaRPr sz="16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Economia de espaço </a:t>
            </a:r>
            <a:endParaRPr sz="16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Redundância e confiabilidade</a:t>
            </a:r>
            <a:endParaRPr sz="1600" b="0" strike="noStrike" dirty="0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 b="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Conformidade com políticas de retenção</a:t>
            </a: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 dirty="0">
                <a:solidFill>
                  <a:srgbClr val="3D3D3D"/>
                </a:solidFill>
                <a:latin typeface="Gill Sans"/>
                <a:sym typeface="Gill Sans"/>
              </a:rPr>
              <a:t>Simples</a:t>
            </a:r>
            <a:endParaRPr sz="16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5"/>
          <p:cNvSpPr txBox="1"/>
          <p:nvPr/>
        </p:nvSpPr>
        <p:spPr>
          <a:xfrm>
            <a:off x="6188400" y="2228040"/>
            <a:ext cx="5422320" cy="363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2208"/>
              <a:buFont typeface="Noto Sans Symbols"/>
              <a:buChar char="◼"/>
            </a:pPr>
            <a:r>
              <a:rPr lang="pt-PT" sz="2400" b="0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Desvantagens</a:t>
            </a:r>
            <a:endParaRPr sz="2400" b="0" strike="noStrike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 b="0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Complexidade de implementação</a:t>
            </a:r>
            <a:endParaRPr sz="1600" b="0" strike="noStrike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 b="0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Custo inicial</a:t>
            </a:r>
            <a:endParaRPr sz="1600" b="0" strike="noStrike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 b="0" strike="noStrike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Dependência de backups completos</a:t>
            </a:r>
            <a:endParaRPr sz="1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FB23E09C-B5F9-EC8B-20CB-AD4DB7F190B3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8A5572-17B3-899A-1C2E-EE900F3DE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450" y="2095111"/>
            <a:ext cx="7038979" cy="4410360"/>
          </a:xfrm>
          <a:prstGeom prst="rect">
            <a:avLst/>
          </a:prstGeom>
        </p:spPr>
      </p:pic>
      <p:sp>
        <p:nvSpPr>
          <p:cNvPr id="5" name="Google Shape;222;p36">
            <a:extLst>
              <a:ext uri="{FF2B5EF4-FFF2-40B4-BE49-F238E27FC236}">
                <a16:creationId xmlns:a16="http://schemas.microsoft.com/office/drawing/2014/main" id="{EB27FCD7-7226-38B4-5444-A43C7F7050E5}"/>
              </a:ext>
            </a:extLst>
          </p:cNvPr>
          <p:cNvSpPr txBox="1"/>
          <p:nvPr/>
        </p:nvSpPr>
        <p:spPr>
          <a:xfrm>
            <a:off x="581040" y="729720"/>
            <a:ext cx="110298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Microsoft Azure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81B32945-A6BC-63AF-1DB5-6E0D9D136839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878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/>
        </p:nvSpPr>
        <p:spPr>
          <a:xfrm>
            <a:off x="581040" y="729720"/>
            <a:ext cx="110298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Ferramentas de Backup Modernas - Microsoft Azure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 txBox="1"/>
          <p:nvPr/>
        </p:nvSpPr>
        <p:spPr>
          <a:xfrm>
            <a:off x="425815" y="2213940"/>
            <a:ext cx="5422200" cy="3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63200" marR="0" lvl="0" indent="-267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Noto Sans Symbols"/>
              <a:buChar char="◼"/>
            </a:pPr>
            <a:r>
              <a:rPr lang="pt-PT" sz="1800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O serviço Azure Backup</a:t>
            </a:r>
            <a:r>
              <a:rPr lang="pt-PT" sz="1800" strike="noStrike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pt-PT" sz="1800" dirty="0">
                <a:latin typeface="Gill Sans"/>
                <a:ea typeface="Gill Sans"/>
                <a:cs typeface="Gill Sans"/>
                <a:sym typeface="Gill Sans"/>
              </a:rPr>
              <a:t>fornece soluções para criar cópias de segurança em Clouds remotas de uma forma mais segura que outros tipos de backups locais ou recorrendo a ficheiros partilhados. Hoje em dia esta ferramenta é paga consoante o uso (Pay as you Go)</a:t>
            </a:r>
            <a:endParaRPr sz="1600" strike="noStrike" dirty="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4" name="Google Shape;224;p36"/>
          <p:cNvSpPr txBox="1"/>
          <p:nvPr/>
        </p:nvSpPr>
        <p:spPr>
          <a:xfrm>
            <a:off x="6188650" y="2204348"/>
            <a:ext cx="5422200" cy="12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00" marR="0" lvl="0" indent="-280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808"/>
              <a:buFont typeface="Noto Sans Symbols"/>
              <a:buChar char="◼"/>
            </a:pPr>
            <a:r>
              <a:rPr lang="pt-PT" sz="2000"/>
              <a:t>Facilmente Escalável</a:t>
            </a:r>
            <a:endParaRPr sz="2000" b="0" strike="noStrike"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Arial"/>
              <a:buChar char="-"/>
            </a:pPr>
            <a:r>
              <a:rPr lang="pt-PT" sz="16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Volume de Cloud, tráfego de entrada e saída ilimitados.</a:t>
            </a:r>
            <a:endParaRPr sz="1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1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 txBox="1"/>
          <p:nvPr/>
        </p:nvSpPr>
        <p:spPr>
          <a:xfrm>
            <a:off x="6378225" y="3739450"/>
            <a:ext cx="58419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6" name="Google Shape;226;p36"/>
          <p:cNvSpPr txBox="1"/>
          <p:nvPr/>
        </p:nvSpPr>
        <p:spPr>
          <a:xfrm>
            <a:off x="6206800" y="3128525"/>
            <a:ext cx="5385900" cy="14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06000" lvl="0" indent="-280600" algn="l" rtl="0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808"/>
              <a:buFont typeface="Noto Sans Symbols"/>
              <a:buChar char="◼"/>
            </a:pPr>
            <a:r>
              <a:rPr lang="pt-PT" sz="2000">
                <a:solidFill>
                  <a:schemeClr val="dk1"/>
                </a:solidFill>
              </a:rPr>
              <a:t>Seguro</a:t>
            </a:r>
            <a:endParaRPr sz="2000"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Char char="-"/>
            </a:pPr>
            <a:r>
              <a:rPr lang="pt-PT" sz="160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O Azure fornece soluções de segurança “in transit” e “at rest” conjuntamente com capacidades de monitorização e alerta já incorporados.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227" name="Google Shape;227;p36"/>
          <p:cNvSpPr txBox="1"/>
          <p:nvPr/>
        </p:nvSpPr>
        <p:spPr>
          <a:xfrm>
            <a:off x="6206800" y="4550525"/>
            <a:ext cx="5801100" cy="17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06000" lvl="0" indent="-280600" algn="l" rtl="0"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808"/>
              <a:buFont typeface="Noto Sans Symbols"/>
              <a:buChar char="◼"/>
            </a:pPr>
            <a:r>
              <a:rPr lang="pt-PT" sz="2000" dirty="0">
                <a:solidFill>
                  <a:schemeClr val="dk1"/>
                </a:solidFill>
              </a:rPr>
              <a:t>Estável</a:t>
            </a:r>
            <a:endParaRPr sz="2000" dirty="0"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1001"/>
              </a:spcBef>
              <a:spcAft>
                <a:spcPts val="0"/>
              </a:spcAft>
              <a:buClr>
                <a:srgbClr val="4590B8"/>
              </a:buClr>
              <a:buSzPts val="1472"/>
              <a:buChar char="-"/>
            </a:pPr>
            <a:r>
              <a:rPr lang="pt-PT" sz="1600" dirty="0">
                <a:solidFill>
                  <a:srgbClr val="3D3D3D"/>
                </a:solidFill>
                <a:latin typeface="Gill Sans"/>
                <a:ea typeface="Gill Sans"/>
                <a:cs typeface="Gill Sans"/>
                <a:sym typeface="Gill Sans"/>
              </a:rPr>
              <a:t>Diversas opções de armazenamento redundante (Locally R.S.,Geo R.S.,Zone G.S.) que protegem dados de desastres regionais através da múltipla cópia de dados e reprodução destes em zonas distantes da Azure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96CD22A3-5AFE-63B8-3B71-7FB19069845F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/>
        </p:nvSpPr>
        <p:spPr>
          <a:xfrm>
            <a:off x="581040" y="729720"/>
            <a:ext cx="110298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Ferramentas de Backup Modernas - Microsoft Azure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7"/>
          <p:cNvSpPr txBox="1"/>
          <p:nvPr/>
        </p:nvSpPr>
        <p:spPr>
          <a:xfrm>
            <a:off x="6378225" y="3739450"/>
            <a:ext cx="58419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35" name="Google Shape;2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6975" y="2490625"/>
            <a:ext cx="4264401" cy="426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025" y="2490625"/>
            <a:ext cx="4264401" cy="426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7"/>
          <p:cNvSpPr txBox="1"/>
          <p:nvPr/>
        </p:nvSpPr>
        <p:spPr>
          <a:xfrm>
            <a:off x="708025" y="2074325"/>
            <a:ext cx="81279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300" b="1" dirty="0">
                <a:solidFill>
                  <a:srgbClr val="F1F1F1"/>
                </a:solidFill>
                <a:highlight>
                  <a:srgbClr val="0F0F0F"/>
                </a:highlight>
                <a:latin typeface="Roboto"/>
                <a:ea typeface="Roboto"/>
                <a:cs typeface="Roboto"/>
                <a:sym typeface="Roboto"/>
              </a:rPr>
              <a:t>How does Microsoft Azure work?</a:t>
            </a:r>
            <a:endParaRPr sz="2300" b="1" dirty="0">
              <a:solidFill>
                <a:srgbClr val="F1F1F1"/>
              </a:solidFill>
              <a:highlight>
                <a:srgbClr val="0F0F0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38" name="Google Shape;238;p37"/>
          <p:cNvSpPr txBox="1"/>
          <p:nvPr/>
        </p:nvSpPr>
        <p:spPr>
          <a:xfrm>
            <a:off x="7535325" y="2074325"/>
            <a:ext cx="57291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300" b="1" dirty="0">
                <a:solidFill>
                  <a:srgbClr val="F1F1F1"/>
                </a:solidFill>
                <a:highlight>
                  <a:srgbClr val="0F0F0F"/>
                </a:highlight>
                <a:latin typeface="Roboto"/>
                <a:ea typeface="Roboto"/>
                <a:cs typeface="Roboto"/>
                <a:sym typeface="Roboto"/>
              </a:rPr>
              <a:t>Overview of Azure Backup</a:t>
            </a:r>
            <a:endParaRPr sz="2300" b="1" dirty="0">
              <a:solidFill>
                <a:srgbClr val="F1F1F1"/>
              </a:solidFill>
              <a:highlight>
                <a:srgbClr val="0F0F0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1826" y="3332225"/>
            <a:ext cx="1762749" cy="1762749"/>
          </a:xfrm>
          <a:prstGeom prst="rect">
            <a:avLst/>
          </a:prstGeom>
          <a:noFill/>
          <a:ln>
            <a:noFill/>
          </a:ln>
          <a:effectLst>
            <a:outerShdw blurRad="385763" dist="38100" dir="5400000" algn="bl" rotWithShape="0">
              <a:srgbClr val="000000">
                <a:alpha val="64999"/>
              </a:srgbClr>
            </a:outerShdw>
          </a:effectLst>
        </p:spPr>
      </p:pic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AB154DB3-1597-59A2-2689-B55F10F35ACD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3;p37">
            <a:extLst>
              <a:ext uri="{FF2B5EF4-FFF2-40B4-BE49-F238E27FC236}">
                <a16:creationId xmlns:a16="http://schemas.microsoft.com/office/drawing/2014/main" id="{537CFBAE-1CC8-F3A3-FF6D-E7B26641D3D4}"/>
              </a:ext>
            </a:extLst>
          </p:cNvPr>
          <p:cNvSpPr txBox="1"/>
          <p:nvPr/>
        </p:nvSpPr>
        <p:spPr>
          <a:xfrm>
            <a:off x="581040" y="729720"/>
            <a:ext cx="110298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Backup sem GUI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239;p37">
            <a:extLst>
              <a:ext uri="{FF2B5EF4-FFF2-40B4-BE49-F238E27FC236}">
                <a16:creationId xmlns:a16="http://schemas.microsoft.com/office/drawing/2014/main" id="{0F1D7130-483E-0E3E-137A-60F28A7629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076" y="2898413"/>
            <a:ext cx="2840614" cy="2443214"/>
          </a:xfrm>
          <a:prstGeom prst="rect">
            <a:avLst/>
          </a:prstGeom>
          <a:noFill/>
          <a:ln>
            <a:noFill/>
          </a:ln>
          <a:effectLst>
            <a:outerShdw blurRad="385763" dist="38100" dir="5400000" algn="bl" rotWithShape="0">
              <a:srgbClr val="000000">
                <a:alpha val="64999"/>
              </a:srgbClr>
            </a:outerShdw>
          </a:effectLst>
        </p:spPr>
      </p:pic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4F7D7381-9595-C3EE-5D9A-EC26D31A9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583" y="2369325"/>
            <a:ext cx="3501390" cy="350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869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AAF9-7FAC-66D9-E0D9-939A110E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40" y="642648"/>
            <a:ext cx="10993680" cy="1474920"/>
          </a:xfrm>
        </p:spPr>
        <p:txBody>
          <a:bodyPr>
            <a:normAutofit/>
          </a:bodyPr>
          <a:lstStyle/>
          <a:p>
            <a:r>
              <a:rPr lang="pt-PT" sz="2800" dirty="0">
                <a:solidFill>
                  <a:schemeClr val="bg1">
                    <a:lumMod val="95000"/>
                  </a:schemeClr>
                </a:solidFill>
                <a:latin typeface="Gill Sans" panose="020B0604020202020204" charset="0"/>
              </a:rPr>
              <a:t>Tráfego SMB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A9628-F8D8-BCE0-4123-45DD90BAA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432" y="1822368"/>
            <a:ext cx="10993680" cy="590400"/>
          </a:xfrm>
        </p:spPr>
        <p:txBody>
          <a:bodyPr>
            <a:normAutofit/>
          </a:bodyPr>
          <a:lstStyle/>
          <a:p>
            <a:r>
              <a:rPr lang="pt-PT" sz="1200" dirty="0">
                <a:latin typeface="+mj-lt"/>
              </a:rPr>
              <a:t>Nota: Este tráfego SMB foi capturado num acesso do Windows Server a uma pasta partilhada (</a:t>
            </a:r>
            <a:r>
              <a:rPr lang="pt-PT" sz="1200" dirty="0" err="1">
                <a:latin typeface="+mj-lt"/>
              </a:rPr>
              <a:t>shared</a:t>
            </a:r>
            <a:r>
              <a:rPr lang="pt-PT" sz="1200" dirty="0">
                <a:latin typeface="+mj-lt"/>
              </a:rPr>
              <a:t> </a:t>
            </a:r>
            <a:r>
              <a:rPr lang="pt-PT" sz="1200" dirty="0" err="1">
                <a:latin typeface="+mj-lt"/>
              </a:rPr>
              <a:t>folder</a:t>
            </a:r>
            <a:r>
              <a:rPr lang="pt-PT" sz="1200" dirty="0">
                <a:latin typeface="+mj-lt"/>
              </a:rPr>
              <a:t>) do Windows 11 Pro</a:t>
            </a:r>
          </a:p>
          <a:p>
            <a:endParaRPr lang="pt-PT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E83B2-0328-32BB-3D79-EE1158736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40" y="2642771"/>
            <a:ext cx="6453744" cy="3630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894920-E02B-BF8B-6A14-2A47F0BD64C3}"/>
              </a:ext>
            </a:extLst>
          </p:cNvPr>
          <p:cNvSpPr txBox="1"/>
          <p:nvPr/>
        </p:nvSpPr>
        <p:spPr>
          <a:xfrm>
            <a:off x="581040" y="2347571"/>
            <a:ext cx="7782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/>
              <a:t>Filtro usado</a:t>
            </a:r>
            <a:r>
              <a:rPr lang="pt-PT" dirty="0"/>
              <a:t>: </a:t>
            </a:r>
            <a:r>
              <a:rPr lang="pt-PT" dirty="0" err="1"/>
              <a:t>smb</a:t>
            </a:r>
            <a:r>
              <a:rPr lang="pt-PT" dirty="0"/>
              <a:t> || smb2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0CBBE46-E53B-781C-146E-BCEE0B7EF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784" y="2642771"/>
            <a:ext cx="5157216" cy="359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02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B990-CA7E-E803-9DBA-45A7A4B4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160" y="484152"/>
            <a:ext cx="10993680" cy="1474920"/>
          </a:xfrm>
        </p:spPr>
        <p:txBody>
          <a:bodyPr>
            <a:normAutofit/>
          </a:bodyPr>
          <a:lstStyle/>
          <a:p>
            <a:r>
              <a:rPr lang="pt-PT" sz="2800" b="1" dirty="0">
                <a:solidFill>
                  <a:schemeClr val="bg1">
                    <a:lumMod val="95000"/>
                  </a:schemeClr>
                </a:solidFill>
                <a:latin typeface="Gil Sans"/>
              </a:rPr>
              <a:t>Resumo do tráfego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1219F-CDB6-5E42-210C-AE9A6910704B}"/>
              </a:ext>
            </a:extLst>
          </p:cNvPr>
          <p:cNvSpPr txBox="1"/>
          <p:nvPr/>
        </p:nvSpPr>
        <p:spPr>
          <a:xfrm>
            <a:off x="599160" y="1959072"/>
            <a:ext cx="109936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>
                <a:latin typeface="Gil Sans"/>
              </a:rPr>
              <a:t>O tráfego capturado representa o Windows Server (192.168.0.2) a aceder ao</a:t>
            </a:r>
          </a:p>
          <a:p>
            <a:r>
              <a:rPr lang="pt-PT" sz="2000" dirty="0">
                <a:latin typeface="Gil Sans"/>
              </a:rPr>
              <a:t> recurso partilhado “Backup” no Windows 11 (192.168.0.1)</a:t>
            </a:r>
          </a:p>
          <a:p>
            <a:endParaRPr lang="pt-PT" sz="2000" dirty="0">
              <a:latin typeface="Gil Sans"/>
            </a:endParaRPr>
          </a:p>
          <a:p>
            <a:r>
              <a:rPr lang="pt-PT" sz="2000" dirty="0">
                <a:latin typeface="Gil Sans"/>
              </a:rPr>
              <a:t> 1. Negociação do protocolo e autenticação.</a:t>
            </a:r>
          </a:p>
          <a:p>
            <a:endParaRPr lang="pt-PT" sz="2000" dirty="0">
              <a:latin typeface="Gil Sans"/>
            </a:endParaRPr>
          </a:p>
          <a:p>
            <a:r>
              <a:rPr lang="pt-PT" sz="2000" dirty="0">
                <a:latin typeface="Gil Sans"/>
              </a:rPr>
              <a:t> 2. Ligação ao recurso partilhado (`\\win11a\Backup`).</a:t>
            </a:r>
          </a:p>
          <a:p>
            <a:endParaRPr lang="pt-PT" sz="2000" dirty="0">
              <a:latin typeface="Gil Sans"/>
            </a:endParaRPr>
          </a:p>
          <a:p>
            <a:r>
              <a:rPr lang="pt-PT" sz="2000" dirty="0">
                <a:latin typeface="Gil Sans"/>
              </a:rPr>
              <a:t> 3. Tentativas de listar ficheiros e abrir ficheiros específicos.</a:t>
            </a:r>
          </a:p>
          <a:p>
            <a:endParaRPr lang="pt-PT" sz="2000" dirty="0">
              <a:latin typeface="Gil Sans"/>
            </a:endParaRPr>
          </a:p>
          <a:p>
            <a:r>
              <a:rPr lang="pt-PT" sz="2000" dirty="0">
                <a:latin typeface="Gil Sans"/>
              </a:rPr>
              <a:t> 4. Respostas de erro como `STATUS_OBJECT_NAME_NOT_FOUND` e</a:t>
            </a:r>
          </a:p>
          <a:p>
            <a:r>
              <a:rPr lang="pt-PT" sz="2000" dirty="0">
                <a:latin typeface="Gil Sans"/>
              </a:rPr>
              <a:t> `STATUS_NO_MORE_FILES`, indicando ficheiros não encontrados ou</a:t>
            </a:r>
          </a:p>
          <a:p>
            <a:r>
              <a:rPr lang="pt-PT" sz="2000" dirty="0">
                <a:latin typeface="Gil Sans"/>
              </a:rPr>
              <a:t> diretórios vazios.</a:t>
            </a:r>
          </a:p>
          <a:p>
            <a:endParaRPr lang="pt-PT" sz="2000" dirty="0">
              <a:latin typeface="Gil Sans"/>
            </a:endParaRPr>
          </a:p>
          <a:p>
            <a:r>
              <a:rPr lang="pt-PT" sz="2000" dirty="0">
                <a:latin typeface="Gil Sans"/>
              </a:rPr>
              <a:t> 5. Encerramento da comunicação com </a:t>
            </a:r>
            <a:r>
              <a:rPr lang="pt-PT" sz="2000" dirty="0" err="1">
                <a:latin typeface="Gil Sans"/>
              </a:rPr>
              <a:t>Close</a:t>
            </a:r>
            <a:r>
              <a:rPr lang="pt-PT" sz="2000" dirty="0">
                <a:latin typeface="Gil Sans"/>
              </a:rPr>
              <a:t> </a:t>
            </a:r>
            <a:r>
              <a:rPr lang="pt-PT" sz="2000" dirty="0" err="1">
                <a:latin typeface="Gil Sans"/>
              </a:rPr>
              <a:t>Requests</a:t>
            </a:r>
            <a:r>
              <a:rPr lang="pt-PT" sz="2000">
                <a:latin typeface="Gil Sans"/>
              </a:rPr>
              <a:t>.</a:t>
            </a:r>
            <a:endParaRPr lang="pt-PT" sz="2000" dirty="0">
              <a:latin typeface="Gil Sans"/>
            </a:endParaRPr>
          </a:p>
        </p:txBody>
      </p:sp>
    </p:spTree>
    <p:extLst>
      <p:ext uri="{BB962C8B-B14F-4D97-AF65-F5344CB8AC3E}">
        <p14:creationId xmlns:p14="http://schemas.microsoft.com/office/powerpoint/2010/main" val="1839310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33;p37">
            <a:extLst>
              <a:ext uri="{FF2B5EF4-FFF2-40B4-BE49-F238E27FC236}">
                <a16:creationId xmlns:a16="http://schemas.microsoft.com/office/drawing/2014/main" id="{41AB9683-C7D2-AD6D-77F3-C25CB8B09FF3}"/>
              </a:ext>
            </a:extLst>
          </p:cNvPr>
          <p:cNvSpPr txBox="1"/>
          <p:nvPr/>
        </p:nvSpPr>
        <p:spPr>
          <a:xfrm>
            <a:off x="581040" y="729720"/>
            <a:ext cx="110298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Parte Experimental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Programming Photos, Images &amp; Pictures | Shutterstock">
            <a:extLst>
              <a:ext uri="{FF2B5EF4-FFF2-40B4-BE49-F238E27FC236}">
                <a16:creationId xmlns:a16="http://schemas.microsoft.com/office/drawing/2014/main" id="{F5EF4AB9-1C7B-BCE4-8BC4-C2AD175435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72"/>
          <a:stretch/>
        </p:blipFill>
        <p:spPr bwMode="auto">
          <a:xfrm>
            <a:off x="1827858" y="2343150"/>
            <a:ext cx="8536284" cy="3451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B782F56D-2E3C-014B-809C-442D31F0890F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5353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3;p37">
            <a:extLst>
              <a:ext uri="{FF2B5EF4-FFF2-40B4-BE49-F238E27FC236}">
                <a16:creationId xmlns:a16="http://schemas.microsoft.com/office/drawing/2014/main" id="{190060E9-E7CC-7A6B-C127-3462CA6F2B99}"/>
              </a:ext>
            </a:extLst>
          </p:cNvPr>
          <p:cNvSpPr txBox="1"/>
          <p:nvPr/>
        </p:nvSpPr>
        <p:spPr>
          <a:xfrm>
            <a:off x="580920" y="705336"/>
            <a:ext cx="110298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Parte </a:t>
            </a:r>
            <a:r>
              <a:rPr lang="pt-PT" sz="2800" dirty="0">
                <a:solidFill>
                  <a:srgbClr val="FFFFFF"/>
                </a:solidFill>
                <a:latin typeface="Noto Sans Symbols"/>
                <a:ea typeface="Gill Sans"/>
                <a:cs typeface="Gill Sans"/>
                <a:sym typeface="Gill Sans"/>
              </a:rPr>
              <a:t>Experimental</a:t>
            </a:r>
            <a:endParaRPr sz="2800" b="0" strike="noStrike" dirty="0">
              <a:latin typeface="Noto Sans Symbols"/>
              <a:sym typeface="Arial"/>
            </a:endParaRPr>
          </a:p>
        </p:txBody>
      </p:sp>
      <p:sp>
        <p:nvSpPr>
          <p:cNvPr id="9" name="Google Shape;223;p36">
            <a:extLst>
              <a:ext uri="{FF2B5EF4-FFF2-40B4-BE49-F238E27FC236}">
                <a16:creationId xmlns:a16="http://schemas.microsoft.com/office/drawing/2014/main" id="{A5CC351E-E2F9-3E2E-AB19-0D6AEC5CA440}"/>
              </a:ext>
            </a:extLst>
          </p:cNvPr>
          <p:cNvSpPr txBox="1"/>
          <p:nvPr/>
        </p:nvSpPr>
        <p:spPr>
          <a:xfrm>
            <a:off x="0" y="2209410"/>
            <a:ext cx="11510010" cy="425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63200" marR="0" lvl="0" indent="-267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Noto Sans Symbols"/>
              <a:buChar char="◼"/>
            </a:pPr>
            <a:r>
              <a:rPr lang="pt-PT" sz="2600" b="1" dirty="0">
                <a:latin typeface="Gill Sans"/>
                <a:ea typeface="Gill Sans"/>
                <a:cs typeface="Gill Sans"/>
                <a:sym typeface="Gill Sans"/>
              </a:rPr>
              <a:t>O guião é composto por:</a:t>
            </a:r>
            <a:br>
              <a:rPr lang="pt-PT" sz="2000" strike="noStrike" dirty="0">
                <a:latin typeface="Gill Sans"/>
                <a:ea typeface="Gill Sans"/>
                <a:cs typeface="Gill Sans"/>
                <a:sym typeface="Gill Sans"/>
              </a:rPr>
            </a:br>
            <a:endParaRPr lang="pt-PT" sz="2000" strike="noStrike" dirty="0">
              <a:latin typeface="Gill Sans"/>
              <a:ea typeface="Gill Sans"/>
              <a:cs typeface="Gill Sans"/>
              <a:sym typeface="Gill Sans"/>
            </a:endParaRPr>
          </a:p>
          <a:p>
            <a:pPr marL="9525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u="sng" dirty="0">
                <a:latin typeface="Gill Sans"/>
                <a:ea typeface="Gill Sans"/>
                <a:cs typeface="Gill Sans"/>
                <a:sym typeface="Gill Sans"/>
              </a:rPr>
              <a:t>Setup do Windows Server no VirtualBox</a:t>
            </a:r>
            <a:br>
              <a:rPr lang="pt-PT" sz="2000" dirty="0">
                <a:latin typeface="Gill Sans"/>
                <a:ea typeface="Gill Sans"/>
                <a:cs typeface="Gill Sans"/>
                <a:sym typeface="Gill Sans"/>
              </a:rPr>
            </a:br>
            <a:endParaRPr lang="pt-PT" sz="2000" dirty="0">
              <a:latin typeface="Gill Sans"/>
              <a:ea typeface="Gill Sans"/>
              <a:cs typeface="Gill Sans"/>
              <a:sym typeface="Gill Sans"/>
            </a:endParaRPr>
          </a:p>
          <a:p>
            <a:pPr marL="9525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u="sng" strike="noStrike" dirty="0">
                <a:latin typeface="Gill Sans"/>
                <a:ea typeface="Gill Sans"/>
                <a:cs typeface="Gill Sans"/>
                <a:sym typeface="Gill Sans"/>
              </a:rPr>
              <a:t>Instalação do Windows Backup Server</a:t>
            </a:r>
            <a:br>
              <a:rPr lang="pt-PT" sz="2000" strike="noStrike" dirty="0">
                <a:latin typeface="Gill Sans"/>
                <a:ea typeface="Gill Sans"/>
                <a:cs typeface="Gill Sans"/>
                <a:sym typeface="Gill Sans"/>
              </a:rPr>
            </a:br>
            <a:endParaRPr lang="pt-PT" sz="2000" strike="noStrike" dirty="0">
              <a:latin typeface="Gill Sans"/>
              <a:ea typeface="Gill Sans"/>
              <a:cs typeface="Gill Sans"/>
              <a:sym typeface="Gill Sans"/>
            </a:endParaRPr>
          </a:p>
          <a:p>
            <a:pPr marL="952500" indent="-457200"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u="sng" strike="noStrike" dirty="0">
                <a:latin typeface="Gill Sans"/>
                <a:ea typeface="Gill Sans"/>
                <a:cs typeface="Gill Sans"/>
                <a:sym typeface="Gill Sans"/>
              </a:rPr>
              <a:t>Criação de um Hard </a:t>
            </a:r>
            <a:r>
              <a:rPr lang="pt-PT" sz="2000" u="sng" strike="noStrike" dirty="0" err="1">
                <a:latin typeface="Gill Sans"/>
                <a:ea typeface="Gill Sans"/>
                <a:cs typeface="Gill Sans"/>
                <a:sym typeface="Gill Sans"/>
              </a:rPr>
              <a:t>Disk</a:t>
            </a:r>
            <a:br>
              <a:rPr lang="pt-PT" sz="2000" strike="noStrike" dirty="0">
                <a:latin typeface="Gill Sans"/>
                <a:ea typeface="Gill Sans"/>
                <a:cs typeface="Gill Sans"/>
                <a:sym typeface="Gill Sans"/>
              </a:rPr>
            </a:br>
            <a:endParaRPr lang="pt-PT" sz="2000" strike="noStrike" dirty="0">
              <a:latin typeface="Gill Sans"/>
              <a:ea typeface="Gill Sans"/>
              <a:cs typeface="Gill Sans"/>
              <a:sym typeface="Gill Sans"/>
            </a:endParaRPr>
          </a:p>
          <a:p>
            <a:pPr marL="9525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u="sng" dirty="0">
                <a:latin typeface="Gill Sans"/>
                <a:ea typeface="Gill Sans"/>
                <a:cs typeface="Gill Sans"/>
                <a:sym typeface="Gill Sans"/>
              </a:rPr>
              <a:t>Backup </a:t>
            </a:r>
            <a:r>
              <a:rPr lang="pt-PT" sz="2000" u="sng" dirty="0" err="1">
                <a:latin typeface="Gill Sans"/>
                <a:ea typeface="Gill Sans"/>
                <a:cs typeface="Gill Sans"/>
                <a:sym typeface="Gill Sans"/>
              </a:rPr>
              <a:t>Once</a:t>
            </a:r>
            <a:br>
              <a:rPr lang="pt-PT" sz="2000" dirty="0">
                <a:latin typeface="Gill Sans"/>
                <a:ea typeface="Gill Sans"/>
                <a:cs typeface="Gill Sans"/>
                <a:sym typeface="Gill Sans"/>
              </a:rPr>
            </a:br>
            <a:endParaRPr lang="pt-PT" sz="2000" dirty="0">
              <a:latin typeface="Gill Sans"/>
              <a:ea typeface="Gill Sans"/>
              <a:cs typeface="Gill Sans"/>
              <a:sym typeface="Gill Sans"/>
            </a:endParaRPr>
          </a:p>
          <a:p>
            <a:pPr marL="9525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u="sng" strike="noStrike" dirty="0" err="1">
                <a:latin typeface="Gill Sans"/>
                <a:ea typeface="Gill Sans"/>
                <a:cs typeface="Gill Sans"/>
                <a:sym typeface="Gill Sans"/>
              </a:rPr>
              <a:t>Recover</a:t>
            </a:r>
            <a:endParaRPr lang="pt-PT" sz="2000" u="sng" strike="noStrike" dirty="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2E5C822E-E7E9-7A5A-E6F2-F8C65C62281F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7240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3;p37">
            <a:extLst>
              <a:ext uri="{FF2B5EF4-FFF2-40B4-BE49-F238E27FC236}">
                <a16:creationId xmlns:a16="http://schemas.microsoft.com/office/drawing/2014/main" id="{ACC8E400-D31A-EC04-BBB0-4C33A392D374}"/>
              </a:ext>
            </a:extLst>
          </p:cNvPr>
          <p:cNvSpPr txBox="1"/>
          <p:nvPr/>
        </p:nvSpPr>
        <p:spPr>
          <a:xfrm>
            <a:off x="581040" y="729720"/>
            <a:ext cx="110298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Parte Experimental</a:t>
            </a:r>
            <a:endParaRPr sz="2800" b="0" strike="noStrik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23;p36">
            <a:extLst>
              <a:ext uri="{FF2B5EF4-FFF2-40B4-BE49-F238E27FC236}">
                <a16:creationId xmlns:a16="http://schemas.microsoft.com/office/drawing/2014/main" id="{E4789099-CD78-42A7-582F-887EC9E4224E}"/>
              </a:ext>
            </a:extLst>
          </p:cNvPr>
          <p:cNvSpPr txBox="1"/>
          <p:nvPr/>
        </p:nvSpPr>
        <p:spPr>
          <a:xfrm>
            <a:off x="80069" y="2617548"/>
            <a:ext cx="6244529" cy="2405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63200" marR="0" lvl="0" indent="-267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Noto Sans Symbols"/>
              <a:buChar char="◼"/>
            </a:pPr>
            <a:r>
              <a:rPr lang="pt-PT" sz="2200" dirty="0">
                <a:latin typeface="Gill Sans"/>
                <a:ea typeface="Gill Sans"/>
                <a:cs typeface="Gill Sans"/>
                <a:sym typeface="Gill Sans"/>
              </a:rPr>
              <a:t>O desafio que propomos é o seguinte:</a:t>
            </a:r>
          </a:p>
          <a:p>
            <a:pPr marL="495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</a:pPr>
            <a:endParaRPr lang="pt-PT" sz="2200" dirty="0">
              <a:latin typeface="Gill Sans"/>
              <a:ea typeface="Gill Sans"/>
              <a:cs typeface="Gill Sans"/>
              <a:sym typeface="Gill Sans"/>
            </a:endParaRPr>
          </a:p>
          <a:p>
            <a:pPr marL="838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dirty="0">
                <a:latin typeface="Gill Sans"/>
                <a:ea typeface="Gill Sans"/>
                <a:cs typeface="Gill Sans"/>
                <a:sym typeface="Gill Sans"/>
              </a:rPr>
              <a:t>Criação de um ficheiro de texto</a:t>
            </a:r>
          </a:p>
          <a:p>
            <a:pPr marL="838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dirty="0">
                <a:latin typeface="Gill Sans"/>
                <a:ea typeface="Gill Sans"/>
                <a:cs typeface="Gill Sans"/>
                <a:sym typeface="Gill Sans"/>
              </a:rPr>
              <a:t>Backup </a:t>
            </a:r>
            <a:r>
              <a:rPr lang="pt-PT" sz="2000" dirty="0" err="1">
                <a:latin typeface="Gill Sans"/>
                <a:ea typeface="Gill Sans"/>
                <a:cs typeface="Gill Sans"/>
                <a:sym typeface="Gill Sans"/>
              </a:rPr>
              <a:t>Once</a:t>
            </a:r>
            <a:r>
              <a:rPr lang="pt-PT" sz="2000" dirty="0">
                <a:latin typeface="Gill Sans"/>
                <a:ea typeface="Gill Sans"/>
                <a:cs typeface="Gill Sans"/>
                <a:sym typeface="Gill Sans"/>
              </a:rPr>
              <a:t> do ficheiro criado</a:t>
            </a:r>
          </a:p>
          <a:p>
            <a:pPr marL="838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dirty="0">
                <a:latin typeface="Gill Sans"/>
                <a:ea typeface="Gill Sans"/>
                <a:cs typeface="Gill Sans"/>
                <a:sym typeface="Gill Sans"/>
              </a:rPr>
              <a:t>Apagar o ficheiro</a:t>
            </a:r>
          </a:p>
          <a:p>
            <a:pPr marL="838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dirty="0">
                <a:latin typeface="Gill Sans"/>
                <a:ea typeface="Gill Sans"/>
                <a:cs typeface="Gill Sans"/>
                <a:sym typeface="Gill Sans"/>
              </a:rPr>
              <a:t>Fazer </a:t>
            </a:r>
            <a:r>
              <a:rPr lang="pt-PT" sz="2000" dirty="0" err="1">
                <a:latin typeface="Gill Sans"/>
                <a:ea typeface="Gill Sans"/>
                <a:cs typeface="Gill Sans"/>
                <a:sym typeface="Gill Sans"/>
              </a:rPr>
              <a:t>Recover</a:t>
            </a:r>
            <a:r>
              <a:rPr lang="pt-PT" sz="2000" dirty="0">
                <a:latin typeface="Gill Sans"/>
                <a:ea typeface="Gill Sans"/>
                <a:cs typeface="Gill Sans"/>
                <a:sym typeface="Gill Sans"/>
              </a:rPr>
              <a:t> do mesmo e observar os resultados obtidos</a:t>
            </a:r>
          </a:p>
          <a:p>
            <a:pPr marL="838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endParaRPr sz="1600" strike="noStrike" dirty="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Google Shape;223;p36">
            <a:extLst>
              <a:ext uri="{FF2B5EF4-FFF2-40B4-BE49-F238E27FC236}">
                <a16:creationId xmlns:a16="http://schemas.microsoft.com/office/drawing/2014/main" id="{DD66E3F7-EE24-8AB1-7391-6BD3E5FBBBAA}"/>
              </a:ext>
            </a:extLst>
          </p:cNvPr>
          <p:cNvSpPr txBox="1"/>
          <p:nvPr/>
        </p:nvSpPr>
        <p:spPr>
          <a:xfrm>
            <a:off x="6324598" y="2331720"/>
            <a:ext cx="5595709" cy="269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63200" marR="0" lvl="0" indent="-267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Noto Sans Symbols"/>
              <a:buChar char="◼"/>
            </a:pPr>
            <a:r>
              <a:rPr lang="pt-PT" sz="2200" dirty="0">
                <a:latin typeface="Gill Sans"/>
                <a:ea typeface="Gill Sans"/>
                <a:cs typeface="Gill Sans"/>
                <a:sym typeface="Gill Sans"/>
              </a:rPr>
              <a:t>Os desafios práticos existentes no guião são:</a:t>
            </a:r>
          </a:p>
          <a:p>
            <a:pPr marL="838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dirty="0">
                <a:latin typeface="Gill Sans"/>
                <a:ea typeface="Gill Sans"/>
                <a:cs typeface="Gill Sans"/>
                <a:sym typeface="Gill Sans"/>
              </a:rPr>
              <a:t>Backup </a:t>
            </a:r>
            <a:r>
              <a:rPr lang="pt-PT" sz="2000" dirty="0" err="1">
                <a:latin typeface="Gill Sans"/>
                <a:ea typeface="Gill Sans"/>
                <a:cs typeface="Gill Sans"/>
                <a:sym typeface="Gill Sans"/>
              </a:rPr>
              <a:t>Once</a:t>
            </a:r>
            <a:endParaRPr lang="pt-PT" sz="2000" dirty="0">
              <a:latin typeface="Gill Sans"/>
              <a:ea typeface="Gill Sans"/>
              <a:cs typeface="Gill Sans"/>
              <a:sym typeface="Gill Sans"/>
            </a:endParaRPr>
          </a:p>
          <a:p>
            <a:pPr marL="838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  <a:buFont typeface="+mj-lt"/>
              <a:buAutoNum type="arabicPeriod"/>
            </a:pPr>
            <a:r>
              <a:rPr lang="pt-PT" sz="2000" dirty="0" err="1">
                <a:latin typeface="Gill Sans"/>
                <a:ea typeface="Gill Sans"/>
                <a:cs typeface="Gill Sans"/>
                <a:sym typeface="Gill Sans"/>
              </a:rPr>
              <a:t>Recover</a:t>
            </a:r>
            <a:endParaRPr lang="pt-PT" sz="2000" dirty="0">
              <a:latin typeface="Gill Sans"/>
              <a:ea typeface="Gill Sans"/>
              <a:cs typeface="Gill Sans"/>
              <a:sym typeface="Gill Sans"/>
            </a:endParaRPr>
          </a:p>
          <a:p>
            <a:pPr marL="4953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608"/>
            </a:pPr>
            <a:endParaRPr sz="1600" strike="noStrike" dirty="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87A2A6DD-0665-223D-818A-8C8E9E762183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5477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46" name="Google Shape;246;p38"/>
          <p:cNvSpPr/>
          <p:nvPr/>
        </p:nvSpPr>
        <p:spPr>
          <a:xfrm>
            <a:off x="8042040" y="723960"/>
            <a:ext cx="3703320" cy="56667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A3260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  <p:grpSp>
        <p:nvGrpSpPr>
          <p:cNvPr id="247" name="Google Shape;247;p38"/>
          <p:cNvGrpSpPr/>
          <p:nvPr/>
        </p:nvGrpSpPr>
        <p:grpSpPr>
          <a:xfrm>
            <a:off x="446400" y="453600"/>
            <a:ext cx="11298960" cy="98640"/>
            <a:chOff x="446400" y="453600"/>
            <a:chExt cx="11298960" cy="98640"/>
          </a:xfrm>
        </p:grpSpPr>
        <p:sp>
          <p:nvSpPr>
            <p:cNvPr id="248" name="Google Shape;248;p38"/>
            <p:cNvSpPr/>
            <p:nvPr/>
          </p:nvSpPr>
          <p:spPr>
            <a:xfrm>
              <a:off x="446400" y="457200"/>
              <a:ext cx="3703320" cy="95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A3260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9" name="Google Shape;249;p38"/>
            <p:cNvSpPr/>
            <p:nvPr/>
          </p:nvSpPr>
          <p:spPr>
            <a:xfrm>
              <a:off x="8042040" y="453600"/>
              <a:ext cx="3703320" cy="986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969FA7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50" name="Google Shape;250;p38"/>
            <p:cNvSpPr/>
            <p:nvPr/>
          </p:nvSpPr>
          <p:spPr>
            <a:xfrm>
              <a:off x="4241880" y="457200"/>
              <a:ext cx="3703320" cy="914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4590B8"/>
            </a:solid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51" name="Google Shape;251;p38"/>
          <p:cNvSpPr txBox="1"/>
          <p:nvPr/>
        </p:nvSpPr>
        <p:spPr>
          <a:xfrm>
            <a:off x="9483840" y="3163680"/>
            <a:ext cx="9036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 b="0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FIM</a:t>
            </a:r>
            <a:endParaRPr sz="3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8296200" y="3504960"/>
            <a:ext cx="3081600" cy="2629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38" descr="Números Digitais"/>
          <p:cNvPicPr preferRelativeResize="0"/>
          <p:nvPr/>
        </p:nvPicPr>
        <p:blipFill rotWithShape="1">
          <a:blip r:embed="rId3">
            <a:alphaModFix/>
          </a:blip>
          <a:srcRect l="2189" r="9644"/>
          <a:stretch/>
        </p:blipFill>
        <p:spPr>
          <a:xfrm>
            <a:off x="446400" y="723960"/>
            <a:ext cx="7498440" cy="567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9;p33">
            <a:extLst>
              <a:ext uri="{FF2B5EF4-FFF2-40B4-BE49-F238E27FC236}">
                <a16:creationId xmlns:a16="http://schemas.microsoft.com/office/drawing/2014/main" id="{B554062C-B0D6-E8DD-9355-45E5CBE287A7}"/>
              </a:ext>
            </a:extLst>
          </p:cNvPr>
          <p:cNvSpPr txBox="1"/>
          <p:nvPr/>
        </p:nvSpPr>
        <p:spPr>
          <a:xfrm>
            <a:off x="11084400" y="50400"/>
            <a:ext cx="105264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500" b="0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500" b="0" strike="noStrik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2116</Words>
  <Application>Microsoft Office PowerPoint</Application>
  <PresentationFormat>Widescreen</PresentationFormat>
  <Paragraphs>218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Times New Roman</vt:lpstr>
      <vt:lpstr>Gil Sans</vt:lpstr>
      <vt:lpstr>Gill Sans</vt:lpstr>
      <vt:lpstr>Calibri</vt:lpstr>
      <vt:lpstr>Arial</vt:lpstr>
      <vt:lpstr>Noto Sans Symbols</vt:lpstr>
      <vt:lpstr>Roboto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Tráfego SMB </vt:lpstr>
      <vt:lpstr>Resumo do tráfego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Utilizador</dc:creator>
  <cp:lastModifiedBy>Martim Oliveira Jardim Freitas</cp:lastModifiedBy>
  <cp:revision>29</cp:revision>
  <dcterms:modified xsi:type="dcterms:W3CDTF">2024-11-28T12:13:43Z</dcterms:modified>
</cp:coreProperties>
</file>